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7" r:id="rId4"/>
  </p:sldMasterIdLst>
  <p:sldIdLst>
    <p:sldId id="270" r:id="rId5"/>
    <p:sldId id="257" r:id="rId6"/>
    <p:sldId id="259" r:id="rId7"/>
    <p:sldId id="258" r:id="rId8"/>
    <p:sldId id="271" r:id="rId9"/>
    <p:sldId id="272" r:id="rId10"/>
    <p:sldId id="273" r:id="rId11"/>
    <p:sldId id="260" r:id="rId12"/>
    <p:sldId id="261" r:id="rId13"/>
    <p:sldId id="274" r:id="rId14"/>
    <p:sldId id="262" r:id="rId15"/>
    <p:sldId id="263" r:id="rId16"/>
    <p:sldId id="275" r:id="rId17"/>
    <p:sldId id="264" r:id="rId18"/>
    <p:sldId id="265" r:id="rId19"/>
    <p:sldId id="266" r:id="rId20"/>
    <p:sldId id="267" r:id="rId21"/>
    <p:sldId id="268" r:id="rId22"/>
    <p:sldId id="276" r:id="rId23"/>
    <p:sldId id="27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07AB57-51CD-476F-964A-D8686243027C}" v="4" dt="2024-11-29T06:54:29.9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9AAD58-974F-464A-875C-D258CABA310D}" type="doc">
      <dgm:prSet loTypeId="urn:microsoft.com/office/officeart/2005/8/layout/hProcess9" loCatId="process" qsTypeId="urn:microsoft.com/office/officeart/2005/8/quickstyle/simple1" qsCatId="simple" csTypeId="urn:microsoft.com/office/officeart/2005/8/colors/colorful1" csCatId="colorful"/>
      <dgm:spPr/>
      <dgm:t>
        <a:bodyPr/>
        <a:lstStyle/>
        <a:p>
          <a:endParaRPr lang="en-US"/>
        </a:p>
      </dgm:t>
    </dgm:pt>
    <dgm:pt modelId="{D20CB4C9-8BE2-49A7-9074-C9B396503E77}">
      <dgm:prSet/>
      <dgm:spPr/>
      <dgm:t>
        <a:bodyPr/>
        <a:lstStyle/>
        <a:p>
          <a:r>
            <a:rPr lang="tr-TR" b="1" i="0" baseline="0"/>
            <a:t>Amaç</a:t>
          </a:r>
          <a:r>
            <a:rPr lang="tr-TR" b="0" i="0" baseline="0"/>
            <a:t>: Gıda sektöründe bilişim teknolojilerinin rolünü inceleyerek, dünyadaki ve Türkiye’deki örnekleri ve gelecekteki potansiyelini ortaya koymak.</a:t>
          </a:r>
          <a:endParaRPr lang="en-US"/>
        </a:p>
      </dgm:t>
    </dgm:pt>
    <dgm:pt modelId="{65EFCAD7-36DC-4D6A-88F8-7E11CE35002F}" type="parTrans" cxnId="{47DBEE2A-CF07-4F73-98A0-10B91B187180}">
      <dgm:prSet/>
      <dgm:spPr/>
      <dgm:t>
        <a:bodyPr/>
        <a:lstStyle/>
        <a:p>
          <a:endParaRPr lang="en-US"/>
        </a:p>
      </dgm:t>
    </dgm:pt>
    <dgm:pt modelId="{FD476D09-4B02-42BB-8373-4CAD9A2A5CF2}" type="sibTrans" cxnId="{47DBEE2A-CF07-4F73-98A0-10B91B187180}">
      <dgm:prSet/>
      <dgm:spPr/>
      <dgm:t>
        <a:bodyPr/>
        <a:lstStyle/>
        <a:p>
          <a:endParaRPr lang="en-US"/>
        </a:p>
      </dgm:t>
    </dgm:pt>
    <dgm:pt modelId="{2DAD5193-BD17-410B-8C84-00F67F40739E}">
      <dgm:prSet/>
      <dgm:spPr/>
      <dgm:t>
        <a:bodyPr/>
        <a:lstStyle/>
        <a:p>
          <a:r>
            <a:rPr lang="tr-TR" b="1" i="0" baseline="0"/>
            <a:t>İçerik Başlıkları</a:t>
          </a:r>
          <a:r>
            <a:rPr lang="tr-TR" b="0" i="0" baseline="0"/>
            <a:t>:</a:t>
          </a:r>
          <a:endParaRPr lang="en-US"/>
        </a:p>
      </dgm:t>
    </dgm:pt>
    <dgm:pt modelId="{5E84B1F1-02FD-42D7-B723-092BEBB6A1CE}" type="parTrans" cxnId="{33B45A75-09C8-4787-BAE7-CBD4E15C78AE}">
      <dgm:prSet/>
      <dgm:spPr/>
      <dgm:t>
        <a:bodyPr/>
        <a:lstStyle/>
        <a:p>
          <a:endParaRPr lang="en-US"/>
        </a:p>
      </dgm:t>
    </dgm:pt>
    <dgm:pt modelId="{6052D74D-89EA-4CC1-95AD-22E7CD13A7B7}" type="sibTrans" cxnId="{33B45A75-09C8-4787-BAE7-CBD4E15C78AE}">
      <dgm:prSet/>
      <dgm:spPr/>
      <dgm:t>
        <a:bodyPr/>
        <a:lstStyle/>
        <a:p>
          <a:endParaRPr lang="en-US"/>
        </a:p>
      </dgm:t>
    </dgm:pt>
    <dgm:pt modelId="{65709A59-6504-429A-AB8A-1EA4109A9431}">
      <dgm:prSet/>
      <dgm:spPr/>
      <dgm:t>
        <a:bodyPr/>
        <a:lstStyle/>
        <a:p>
          <a:r>
            <a:rPr lang="tr-TR" b="0" i="0" baseline="0"/>
            <a:t>Gıda sektöründe dijital dönüşüm</a:t>
          </a:r>
          <a:endParaRPr lang="en-US"/>
        </a:p>
      </dgm:t>
    </dgm:pt>
    <dgm:pt modelId="{DFC7EE84-6E07-4F65-8EDE-9EAD1AD18341}" type="parTrans" cxnId="{888A14AC-75CD-437F-8776-97651E75BC12}">
      <dgm:prSet/>
      <dgm:spPr/>
      <dgm:t>
        <a:bodyPr/>
        <a:lstStyle/>
        <a:p>
          <a:endParaRPr lang="en-US"/>
        </a:p>
      </dgm:t>
    </dgm:pt>
    <dgm:pt modelId="{2C584928-6887-4870-92D2-38552AD6BFA8}" type="sibTrans" cxnId="{888A14AC-75CD-437F-8776-97651E75BC12}">
      <dgm:prSet/>
      <dgm:spPr/>
      <dgm:t>
        <a:bodyPr/>
        <a:lstStyle/>
        <a:p>
          <a:endParaRPr lang="en-US"/>
        </a:p>
      </dgm:t>
    </dgm:pt>
    <dgm:pt modelId="{DDBC88C6-D85A-4E85-A316-D5E75DED9D65}">
      <dgm:prSet/>
      <dgm:spPr/>
      <dgm:t>
        <a:bodyPr/>
        <a:lstStyle/>
        <a:p>
          <a:r>
            <a:rPr lang="tr-TR" b="0" i="0" baseline="0"/>
            <a:t>Teknolojinin sektöre etkisi (dünya ve Türkiye)</a:t>
          </a:r>
          <a:endParaRPr lang="en-US"/>
        </a:p>
      </dgm:t>
    </dgm:pt>
    <dgm:pt modelId="{BBF56288-E2AD-43F3-B743-75EF17C505C7}" type="parTrans" cxnId="{3B3131F0-D8F4-49FF-9D29-DFBC98C10058}">
      <dgm:prSet/>
      <dgm:spPr/>
      <dgm:t>
        <a:bodyPr/>
        <a:lstStyle/>
        <a:p>
          <a:endParaRPr lang="en-US"/>
        </a:p>
      </dgm:t>
    </dgm:pt>
    <dgm:pt modelId="{380276F1-3582-4794-840C-0C0D6FE61119}" type="sibTrans" cxnId="{3B3131F0-D8F4-49FF-9D29-DFBC98C10058}">
      <dgm:prSet/>
      <dgm:spPr/>
      <dgm:t>
        <a:bodyPr/>
        <a:lstStyle/>
        <a:p>
          <a:endParaRPr lang="en-US"/>
        </a:p>
      </dgm:t>
    </dgm:pt>
    <dgm:pt modelId="{2337849A-CA45-4800-81A9-1C5C13E3C696}">
      <dgm:prSet/>
      <dgm:spPr/>
      <dgm:t>
        <a:bodyPr/>
        <a:lstStyle/>
        <a:p>
          <a:r>
            <a:rPr lang="tr-TR"/>
            <a:t>Gıda Sektöründe Gelecekte Bilişim Teknolojileri </a:t>
          </a:r>
          <a:endParaRPr lang="en-US"/>
        </a:p>
      </dgm:t>
    </dgm:pt>
    <dgm:pt modelId="{8F3A16AC-435E-4AA8-822D-6FAD35E37DE3}" type="parTrans" cxnId="{25B1984B-B14E-44DC-B51C-4F50F8AB5C21}">
      <dgm:prSet/>
      <dgm:spPr/>
      <dgm:t>
        <a:bodyPr/>
        <a:lstStyle/>
        <a:p>
          <a:endParaRPr lang="en-US"/>
        </a:p>
      </dgm:t>
    </dgm:pt>
    <dgm:pt modelId="{4749750F-A425-4AD8-828C-74083BF99DF7}" type="sibTrans" cxnId="{25B1984B-B14E-44DC-B51C-4F50F8AB5C21}">
      <dgm:prSet/>
      <dgm:spPr/>
      <dgm:t>
        <a:bodyPr/>
        <a:lstStyle/>
        <a:p>
          <a:endParaRPr lang="en-US"/>
        </a:p>
      </dgm:t>
    </dgm:pt>
    <dgm:pt modelId="{C3C615FC-7CF1-4031-9D66-B6A4ED21736D}">
      <dgm:prSet/>
      <dgm:spPr/>
      <dgm:t>
        <a:bodyPr/>
        <a:lstStyle/>
        <a:p>
          <a:r>
            <a:rPr lang="tr-TR" b="0" i="0" baseline="0"/>
            <a:t>Sonuçlar</a:t>
          </a:r>
          <a:endParaRPr lang="en-US"/>
        </a:p>
      </dgm:t>
    </dgm:pt>
    <dgm:pt modelId="{D19A313A-2465-4DA3-B39E-6A483A1910CA}" type="parTrans" cxnId="{6CA15681-6218-42D7-B5F1-4025C55015E4}">
      <dgm:prSet/>
      <dgm:spPr/>
      <dgm:t>
        <a:bodyPr/>
        <a:lstStyle/>
        <a:p>
          <a:endParaRPr lang="en-US"/>
        </a:p>
      </dgm:t>
    </dgm:pt>
    <dgm:pt modelId="{0569ED5F-ABBA-4A72-89C1-97937E92A38B}" type="sibTrans" cxnId="{6CA15681-6218-42D7-B5F1-4025C55015E4}">
      <dgm:prSet/>
      <dgm:spPr/>
      <dgm:t>
        <a:bodyPr/>
        <a:lstStyle/>
        <a:p>
          <a:endParaRPr lang="en-US"/>
        </a:p>
      </dgm:t>
    </dgm:pt>
    <dgm:pt modelId="{3C8CBEB6-3559-44F6-98F5-8CA8F8FFB143}" type="pres">
      <dgm:prSet presAssocID="{A19AAD58-974F-464A-875C-D258CABA310D}" presName="CompostProcess" presStyleCnt="0">
        <dgm:presLayoutVars>
          <dgm:dir/>
          <dgm:resizeHandles val="exact"/>
        </dgm:presLayoutVars>
      </dgm:prSet>
      <dgm:spPr/>
    </dgm:pt>
    <dgm:pt modelId="{A2005287-4E3D-4DD1-984C-E07E80EC2C04}" type="pres">
      <dgm:prSet presAssocID="{A19AAD58-974F-464A-875C-D258CABA310D}" presName="arrow" presStyleLbl="bgShp" presStyleIdx="0" presStyleCnt="1"/>
      <dgm:spPr/>
    </dgm:pt>
    <dgm:pt modelId="{11E66C48-4490-4F12-9E42-F6C5FCA22B05}" type="pres">
      <dgm:prSet presAssocID="{A19AAD58-974F-464A-875C-D258CABA310D}" presName="linearProcess" presStyleCnt="0"/>
      <dgm:spPr/>
    </dgm:pt>
    <dgm:pt modelId="{C1D9BDF4-FB05-4EB1-AFF3-977DB6724B1F}" type="pres">
      <dgm:prSet presAssocID="{D20CB4C9-8BE2-49A7-9074-C9B396503E77}" presName="textNode" presStyleLbl="node1" presStyleIdx="0" presStyleCnt="6">
        <dgm:presLayoutVars>
          <dgm:bulletEnabled val="1"/>
        </dgm:presLayoutVars>
      </dgm:prSet>
      <dgm:spPr/>
    </dgm:pt>
    <dgm:pt modelId="{2B5C6127-636B-4D79-BD6E-68721B1E99C6}" type="pres">
      <dgm:prSet presAssocID="{FD476D09-4B02-42BB-8373-4CAD9A2A5CF2}" presName="sibTrans" presStyleCnt="0"/>
      <dgm:spPr/>
    </dgm:pt>
    <dgm:pt modelId="{F7B51FC5-061D-46BC-A20A-0FA4D40ADDBE}" type="pres">
      <dgm:prSet presAssocID="{2DAD5193-BD17-410B-8C84-00F67F40739E}" presName="textNode" presStyleLbl="node1" presStyleIdx="1" presStyleCnt="6">
        <dgm:presLayoutVars>
          <dgm:bulletEnabled val="1"/>
        </dgm:presLayoutVars>
      </dgm:prSet>
      <dgm:spPr/>
    </dgm:pt>
    <dgm:pt modelId="{B86B7D00-5953-4BAE-9C2E-CAEE468A719D}" type="pres">
      <dgm:prSet presAssocID="{6052D74D-89EA-4CC1-95AD-22E7CD13A7B7}" presName="sibTrans" presStyleCnt="0"/>
      <dgm:spPr/>
    </dgm:pt>
    <dgm:pt modelId="{354E636B-9B8E-459C-BA24-8B204667BF68}" type="pres">
      <dgm:prSet presAssocID="{65709A59-6504-429A-AB8A-1EA4109A9431}" presName="textNode" presStyleLbl="node1" presStyleIdx="2" presStyleCnt="6">
        <dgm:presLayoutVars>
          <dgm:bulletEnabled val="1"/>
        </dgm:presLayoutVars>
      </dgm:prSet>
      <dgm:spPr/>
    </dgm:pt>
    <dgm:pt modelId="{229D23CC-0316-4D56-B796-A3288759BA57}" type="pres">
      <dgm:prSet presAssocID="{2C584928-6887-4870-92D2-38552AD6BFA8}" presName="sibTrans" presStyleCnt="0"/>
      <dgm:spPr/>
    </dgm:pt>
    <dgm:pt modelId="{4A51AAEE-863D-4AB0-A519-39793D09B4AE}" type="pres">
      <dgm:prSet presAssocID="{DDBC88C6-D85A-4E85-A316-D5E75DED9D65}" presName="textNode" presStyleLbl="node1" presStyleIdx="3" presStyleCnt="6">
        <dgm:presLayoutVars>
          <dgm:bulletEnabled val="1"/>
        </dgm:presLayoutVars>
      </dgm:prSet>
      <dgm:spPr/>
    </dgm:pt>
    <dgm:pt modelId="{B379E922-DDEF-4EF9-B6B9-41026CCEF767}" type="pres">
      <dgm:prSet presAssocID="{380276F1-3582-4794-840C-0C0D6FE61119}" presName="sibTrans" presStyleCnt="0"/>
      <dgm:spPr/>
    </dgm:pt>
    <dgm:pt modelId="{F3F11FDC-4F27-4277-9F59-D37574816871}" type="pres">
      <dgm:prSet presAssocID="{2337849A-CA45-4800-81A9-1C5C13E3C696}" presName="textNode" presStyleLbl="node1" presStyleIdx="4" presStyleCnt="6">
        <dgm:presLayoutVars>
          <dgm:bulletEnabled val="1"/>
        </dgm:presLayoutVars>
      </dgm:prSet>
      <dgm:spPr/>
    </dgm:pt>
    <dgm:pt modelId="{F4591125-B7CC-46B9-8780-F6AF83B4B9A3}" type="pres">
      <dgm:prSet presAssocID="{4749750F-A425-4AD8-828C-74083BF99DF7}" presName="sibTrans" presStyleCnt="0"/>
      <dgm:spPr/>
    </dgm:pt>
    <dgm:pt modelId="{3B0022C8-5148-4F5D-A16C-993C2809A2F7}" type="pres">
      <dgm:prSet presAssocID="{C3C615FC-7CF1-4031-9D66-B6A4ED21736D}" presName="textNode" presStyleLbl="node1" presStyleIdx="5" presStyleCnt="6">
        <dgm:presLayoutVars>
          <dgm:bulletEnabled val="1"/>
        </dgm:presLayoutVars>
      </dgm:prSet>
      <dgm:spPr/>
    </dgm:pt>
  </dgm:ptLst>
  <dgm:cxnLst>
    <dgm:cxn modelId="{47DBEE2A-CF07-4F73-98A0-10B91B187180}" srcId="{A19AAD58-974F-464A-875C-D258CABA310D}" destId="{D20CB4C9-8BE2-49A7-9074-C9B396503E77}" srcOrd="0" destOrd="0" parTransId="{65EFCAD7-36DC-4D6A-88F8-7E11CE35002F}" sibTransId="{FD476D09-4B02-42BB-8373-4CAD9A2A5CF2}"/>
    <dgm:cxn modelId="{CA84113A-37DA-41C2-87B0-04DD80463D84}" type="presOf" srcId="{65709A59-6504-429A-AB8A-1EA4109A9431}" destId="{354E636B-9B8E-459C-BA24-8B204667BF68}" srcOrd="0" destOrd="0" presId="urn:microsoft.com/office/officeart/2005/8/layout/hProcess9"/>
    <dgm:cxn modelId="{25B1984B-B14E-44DC-B51C-4F50F8AB5C21}" srcId="{A19AAD58-974F-464A-875C-D258CABA310D}" destId="{2337849A-CA45-4800-81A9-1C5C13E3C696}" srcOrd="4" destOrd="0" parTransId="{8F3A16AC-435E-4AA8-822D-6FAD35E37DE3}" sibTransId="{4749750F-A425-4AD8-828C-74083BF99DF7}"/>
    <dgm:cxn modelId="{AA1AD270-B015-463B-BB2C-F3E8E1DB31E3}" type="presOf" srcId="{D20CB4C9-8BE2-49A7-9074-C9B396503E77}" destId="{C1D9BDF4-FB05-4EB1-AFF3-977DB6724B1F}" srcOrd="0" destOrd="0" presId="urn:microsoft.com/office/officeart/2005/8/layout/hProcess9"/>
    <dgm:cxn modelId="{33B45A75-09C8-4787-BAE7-CBD4E15C78AE}" srcId="{A19AAD58-974F-464A-875C-D258CABA310D}" destId="{2DAD5193-BD17-410B-8C84-00F67F40739E}" srcOrd="1" destOrd="0" parTransId="{5E84B1F1-02FD-42D7-B723-092BEBB6A1CE}" sibTransId="{6052D74D-89EA-4CC1-95AD-22E7CD13A7B7}"/>
    <dgm:cxn modelId="{F6B5287F-9758-4A17-A7EC-7D6DCA42CD98}" type="presOf" srcId="{C3C615FC-7CF1-4031-9D66-B6A4ED21736D}" destId="{3B0022C8-5148-4F5D-A16C-993C2809A2F7}" srcOrd="0" destOrd="0" presId="urn:microsoft.com/office/officeart/2005/8/layout/hProcess9"/>
    <dgm:cxn modelId="{6CA15681-6218-42D7-B5F1-4025C55015E4}" srcId="{A19AAD58-974F-464A-875C-D258CABA310D}" destId="{C3C615FC-7CF1-4031-9D66-B6A4ED21736D}" srcOrd="5" destOrd="0" parTransId="{D19A313A-2465-4DA3-B39E-6A483A1910CA}" sibTransId="{0569ED5F-ABBA-4A72-89C1-97937E92A38B}"/>
    <dgm:cxn modelId="{888A14AC-75CD-437F-8776-97651E75BC12}" srcId="{A19AAD58-974F-464A-875C-D258CABA310D}" destId="{65709A59-6504-429A-AB8A-1EA4109A9431}" srcOrd="2" destOrd="0" parTransId="{DFC7EE84-6E07-4F65-8EDE-9EAD1AD18341}" sibTransId="{2C584928-6887-4870-92D2-38552AD6BFA8}"/>
    <dgm:cxn modelId="{2DE44EB0-82CE-4233-9B62-36273DE0A73A}" type="presOf" srcId="{A19AAD58-974F-464A-875C-D258CABA310D}" destId="{3C8CBEB6-3559-44F6-98F5-8CA8F8FFB143}" srcOrd="0" destOrd="0" presId="urn:microsoft.com/office/officeart/2005/8/layout/hProcess9"/>
    <dgm:cxn modelId="{AE4560B9-3ED9-4020-99BA-C7B9DECC8D8C}" type="presOf" srcId="{2DAD5193-BD17-410B-8C84-00F67F40739E}" destId="{F7B51FC5-061D-46BC-A20A-0FA4D40ADDBE}" srcOrd="0" destOrd="0" presId="urn:microsoft.com/office/officeart/2005/8/layout/hProcess9"/>
    <dgm:cxn modelId="{113434BC-64DC-4541-AD1D-6EBDC51514B3}" type="presOf" srcId="{2337849A-CA45-4800-81A9-1C5C13E3C696}" destId="{F3F11FDC-4F27-4277-9F59-D37574816871}" srcOrd="0" destOrd="0" presId="urn:microsoft.com/office/officeart/2005/8/layout/hProcess9"/>
    <dgm:cxn modelId="{B33145C2-098B-415F-B400-9DAF67E96BEC}" type="presOf" srcId="{DDBC88C6-D85A-4E85-A316-D5E75DED9D65}" destId="{4A51AAEE-863D-4AB0-A519-39793D09B4AE}" srcOrd="0" destOrd="0" presId="urn:microsoft.com/office/officeart/2005/8/layout/hProcess9"/>
    <dgm:cxn modelId="{3B3131F0-D8F4-49FF-9D29-DFBC98C10058}" srcId="{A19AAD58-974F-464A-875C-D258CABA310D}" destId="{DDBC88C6-D85A-4E85-A316-D5E75DED9D65}" srcOrd="3" destOrd="0" parTransId="{BBF56288-E2AD-43F3-B743-75EF17C505C7}" sibTransId="{380276F1-3582-4794-840C-0C0D6FE61119}"/>
    <dgm:cxn modelId="{3C97A2A9-168A-4C9D-8FD0-E526F06093A6}" type="presParOf" srcId="{3C8CBEB6-3559-44F6-98F5-8CA8F8FFB143}" destId="{A2005287-4E3D-4DD1-984C-E07E80EC2C04}" srcOrd="0" destOrd="0" presId="urn:microsoft.com/office/officeart/2005/8/layout/hProcess9"/>
    <dgm:cxn modelId="{6ECA8B13-39AC-4D5A-921B-E879AD5442C7}" type="presParOf" srcId="{3C8CBEB6-3559-44F6-98F5-8CA8F8FFB143}" destId="{11E66C48-4490-4F12-9E42-F6C5FCA22B05}" srcOrd="1" destOrd="0" presId="urn:microsoft.com/office/officeart/2005/8/layout/hProcess9"/>
    <dgm:cxn modelId="{4BAF5A38-8031-4B81-A9F0-A0A57161B094}" type="presParOf" srcId="{11E66C48-4490-4F12-9E42-F6C5FCA22B05}" destId="{C1D9BDF4-FB05-4EB1-AFF3-977DB6724B1F}" srcOrd="0" destOrd="0" presId="urn:microsoft.com/office/officeart/2005/8/layout/hProcess9"/>
    <dgm:cxn modelId="{22A79763-F216-4733-AE68-F6C1DF74063B}" type="presParOf" srcId="{11E66C48-4490-4F12-9E42-F6C5FCA22B05}" destId="{2B5C6127-636B-4D79-BD6E-68721B1E99C6}" srcOrd="1" destOrd="0" presId="urn:microsoft.com/office/officeart/2005/8/layout/hProcess9"/>
    <dgm:cxn modelId="{45C133D9-B188-4738-8ED9-ED57D20C016F}" type="presParOf" srcId="{11E66C48-4490-4F12-9E42-F6C5FCA22B05}" destId="{F7B51FC5-061D-46BC-A20A-0FA4D40ADDBE}" srcOrd="2" destOrd="0" presId="urn:microsoft.com/office/officeart/2005/8/layout/hProcess9"/>
    <dgm:cxn modelId="{94274305-9588-4712-AA3D-892290DB23EC}" type="presParOf" srcId="{11E66C48-4490-4F12-9E42-F6C5FCA22B05}" destId="{B86B7D00-5953-4BAE-9C2E-CAEE468A719D}" srcOrd="3" destOrd="0" presId="urn:microsoft.com/office/officeart/2005/8/layout/hProcess9"/>
    <dgm:cxn modelId="{B22805DA-884D-4D1B-B022-FFCF460C5DDE}" type="presParOf" srcId="{11E66C48-4490-4F12-9E42-F6C5FCA22B05}" destId="{354E636B-9B8E-459C-BA24-8B204667BF68}" srcOrd="4" destOrd="0" presId="urn:microsoft.com/office/officeart/2005/8/layout/hProcess9"/>
    <dgm:cxn modelId="{2ABB8437-DEC6-4908-956C-BF35E463837C}" type="presParOf" srcId="{11E66C48-4490-4F12-9E42-F6C5FCA22B05}" destId="{229D23CC-0316-4D56-B796-A3288759BA57}" srcOrd="5" destOrd="0" presId="urn:microsoft.com/office/officeart/2005/8/layout/hProcess9"/>
    <dgm:cxn modelId="{A82822EB-B4B2-4F13-8FB4-4B7FD22FB19C}" type="presParOf" srcId="{11E66C48-4490-4F12-9E42-F6C5FCA22B05}" destId="{4A51AAEE-863D-4AB0-A519-39793D09B4AE}" srcOrd="6" destOrd="0" presId="urn:microsoft.com/office/officeart/2005/8/layout/hProcess9"/>
    <dgm:cxn modelId="{774D0AB1-9879-427F-A4D9-0D83F5AF2872}" type="presParOf" srcId="{11E66C48-4490-4F12-9E42-F6C5FCA22B05}" destId="{B379E922-DDEF-4EF9-B6B9-41026CCEF767}" srcOrd="7" destOrd="0" presId="urn:microsoft.com/office/officeart/2005/8/layout/hProcess9"/>
    <dgm:cxn modelId="{B05814AF-BC00-4165-89DD-7AA59D22BCEA}" type="presParOf" srcId="{11E66C48-4490-4F12-9E42-F6C5FCA22B05}" destId="{F3F11FDC-4F27-4277-9F59-D37574816871}" srcOrd="8" destOrd="0" presId="urn:microsoft.com/office/officeart/2005/8/layout/hProcess9"/>
    <dgm:cxn modelId="{9D2F50E2-57AF-4101-BB60-DDF8F729A43F}" type="presParOf" srcId="{11E66C48-4490-4F12-9E42-F6C5FCA22B05}" destId="{F4591125-B7CC-46B9-8780-F6AF83B4B9A3}" srcOrd="9" destOrd="0" presId="urn:microsoft.com/office/officeart/2005/8/layout/hProcess9"/>
    <dgm:cxn modelId="{6439933B-216F-49C1-ABA3-5D78AB965F2D}" type="presParOf" srcId="{11E66C48-4490-4F12-9E42-F6C5FCA22B05}" destId="{3B0022C8-5148-4F5D-A16C-993C2809A2F7}" srcOrd="1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173DF4-6D54-4EF9-9125-BCE035BEE6C6}"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3423DC3E-203E-442E-9188-3886D6CA2232}">
      <dgm:prSet/>
      <dgm:spPr/>
      <dgm:t>
        <a:bodyPr/>
        <a:lstStyle/>
        <a:p>
          <a:r>
            <a:rPr lang="tr-TR" b="1"/>
            <a:t>Yeni İş Modelleri ve Yenilikler</a:t>
          </a:r>
          <a:endParaRPr lang="en-US"/>
        </a:p>
      </dgm:t>
    </dgm:pt>
    <dgm:pt modelId="{42233BA6-6964-4798-8864-3B795424E867}" type="parTrans" cxnId="{97921561-CFF0-42C1-A032-86D7FF559FB5}">
      <dgm:prSet/>
      <dgm:spPr/>
      <dgm:t>
        <a:bodyPr/>
        <a:lstStyle/>
        <a:p>
          <a:endParaRPr lang="en-US"/>
        </a:p>
      </dgm:t>
    </dgm:pt>
    <dgm:pt modelId="{17A709B1-F0C6-422E-81F5-272BF8D060D7}" type="sibTrans" cxnId="{97921561-CFF0-42C1-A032-86D7FF559FB5}">
      <dgm:prSet/>
      <dgm:spPr/>
      <dgm:t>
        <a:bodyPr/>
        <a:lstStyle/>
        <a:p>
          <a:endParaRPr lang="en-US"/>
        </a:p>
      </dgm:t>
    </dgm:pt>
    <dgm:pt modelId="{F7328DF6-E1B8-401A-9DAD-5EC5F0AA70AA}">
      <dgm:prSet/>
      <dgm:spPr/>
      <dgm:t>
        <a:bodyPr/>
        <a:lstStyle/>
        <a:p>
          <a:r>
            <a:rPr lang="tr-TR" b="1"/>
            <a:t>E-Ticaret ve Yeni İş Modelleri</a:t>
          </a:r>
          <a:r>
            <a:rPr lang="tr-TR"/>
            <a:t>: Gıda perakendeciliğinde e-ticaretin daha da büyümesi, ürünlerin dijital platformlar üzerinden hızlıca sipariş edilmesi.</a:t>
          </a:r>
          <a:endParaRPr lang="en-US"/>
        </a:p>
      </dgm:t>
    </dgm:pt>
    <dgm:pt modelId="{B9CED768-E9A8-4777-B2CA-9B7EE66BB118}" type="parTrans" cxnId="{814EE758-EEE2-4B24-84D5-FCFAF2F16139}">
      <dgm:prSet/>
      <dgm:spPr/>
      <dgm:t>
        <a:bodyPr/>
        <a:lstStyle/>
        <a:p>
          <a:endParaRPr lang="en-US"/>
        </a:p>
      </dgm:t>
    </dgm:pt>
    <dgm:pt modelId="{5250194E-EBDB-45D4-ACBA-E6D93AC3370E}" type="sibTrans" cxnId="{814EE758-EEE2-4B24-84D5-FCFAF2F16139}">
      <dgm:prSet/>
      <dgm:spPr/>
      <dgm:t>
        <a:bodyPr/>
        <a:lstStyle/>
        <a:p>
          <a:endParaRPr lang="en-US"/>
        </a:p>
      </dgm:t>
    </dgm:pt>
    <dgm:pt modelId="{A1D2DF8C-9DFE-4E41-95A8-80DCAD1128B4}">
      <dgm:prSet/>
      <dgm:spPr/>
      <dgm:t>
        <a:bodyPr/>
        <a:lstStyle/>
        <a:p>
          <a:r>
            <a:rPr lang="tr-TR" b="1"/>
            <a:t>Yapay Zeka ile Kişiselleştirilmiş Beslenme</a:t>
          </a:r>
          <a:r>
            <a:rPr lang="tr-TR"/>
            <a:t>: Gıda firmaları, tüketicilerin beslenme alışkanlıklarına göre kişiselleştirilmiş ürün önerileri sunacak.</a:t>
          </a:r>
          <a:endParaRPr lang="en-US"/>
        </a:p>
      </dgm:t>
    </dgm:pt>
    <dgm:pt modelId="{C572D93E-4926-441A-B101-8E50ED2EC117}" type="parTrans" cxnId="{D2D18AEB-83FE-438B-A2B0-23EA35C73A6A}">
      <dgm:prSet/>
      <dgm:spPr/>
      <dgm:t>
        <a:bodyPr/>
        <a:lstStyle/>
        <a:p>
          <a:endParaRPr lang="en-US"/>
        </a:p>
      </dgm:t>
    </dgm:pt>
    <dgm:pt modelId="{25912DEF-CE71-4FA7-9462-A2C20240B40C}" type="sibTrans" cxnId="{D2D18AEB-83FE-438B-A2B0-23EA35C73A6A}">
      <dgm:prSet/>
      <dgm:spPr/>
      <dgm:t>
        <a:bodyPr/>
        <a:lstStyle/>
        <a:p>
          <a:endParaRPr lang="en-US"/>
        </a:p>
      </dgm:t>
    </dgm:pt>
    <dgm:pt modelId="{7CB97631-5228-46F0-A8A1-E283D843BD40}" type="pres">
      <dgm:prSet presAssocID="{8D173DF4-6D54-4EF9-9125-BCE035BEE6C6}" presName="outerComposite" presStyleCnt="0">
        <dgm:presLayoutVars>
          <dgm:chMax val="5"/>
          <dgm:dir/>
          <dgm:resizeHandles val="exact"/>
        </dgm:presLayoutVars>
      </dgm:prSet>
      <dgm:spPr/>
    </dgm:pt>
    <dgm:pt modelId="{23E5FEE1-1BD2-465B-A499-764C29BB0070}" type="pres">
      <dgm:prSet presAssocID="{8D173DF4-6D54-4EF9-9125-BCE035BEE6C6}" presName="dummyMaxCanvas" presStyleCnt="0">
        <dgm:presLayoutVars/>
      </dgm:prSet>
      <dgm:spPr/>
    </dgm:pt>
    <dgm:pt modelId="{888CEB7B-B988-4A8B-AA1D-564893020C27}" type="pres">
      <dgm:prSet presAssocID="{8D173DF4-6D54-4EF9-9125-BCE035BEE6C6}" presName="ThreeNodes_1" presStyleLbl="node1" presStyleIdx="0" presStyleCnt="3">
        <dgm:presLayoutVars>
          <dgm:bulletEnabled val="1"/>
        </dgm:presLayoutVars>
      </dgm:prSet>
      <dgm:spPr/>
    </dgm:pt>
    <dgm:pt modelId="{1815C5FD-3B14-4E64-A4F0-F6ADFA88642F}" type="pres">
      <dgm:prSet presAssocID="{8D173DF4-6D54-4EF9-9125-BCE035BEE6C6}" presName="ThreeNodes_2" presStyleLbl="node1" presStyleIdx="1" presStyleCnt="3">
        <dgm:presLayoutVars>
          <dgm:bulletEnabled val="1"/>
        </dgm:presLayoutVars>
      </dgm:prSet>
      <dgm:spPr/>
    </dgm:pt>
    <dgm:pt modelId="{775A71B3-2D35-4D02-80D2-F43F6C42A4E7}" type="pres">
      <dgm:prSet presAssocID="{8D173DF4-6D54-4EF9-9125-BCE035BEE6C6}" presName="ThreeNodes_3" presStyleLbl="node1" presStyleIdx="2" presStyleCnt="3">
        <dgm:presLayoutVars>
          <dgm:bulletEnabled val="1"/>
        </dgm:presLayoutVars>
      </dgm:prSet>
      <dgm:spPr/>
    </dgm:pt>
    <dgm:pt modelId="{13628629-D99E-409D-A4A3-38A6DE4B9315}" type="pres">
      <dgm:prSet presAssocID="{8D173DF4-6D54-4EF9-9125-BCE035BEE6C6}" presName="ThreeConn_1-2" presStyleLbl="fgAccFollowNode1" presStyleIdx="0" presStyleCnt="2">
        <dgm:presLayoutVars>
          <dgm:bulletEnabled val="1"/>
        </dgm:presLayoutVars>
      </dgm:prSet>
      <dgm:spPr/>
    </dgm:pt>
    <dgm:pt modelId="{9C90A52B-1FC7-451A-89AF-E3043F74BCD5}" type="pres">
      <dgm:prSet presAssocID="{8D173DF4-6D54-4EF9-9125-BCE035BEE6C6}" presName="ThreeConn_2-3" presStyleLbl="fgAccFollowNode1" presStyleIdx="1" presStyleCnt="2">
        <dgm:presLayoutVars>
          <dgm:bulletEnabled val="1"/>
        </dgm:presLayoutVars>
      </dgm:prSet>
      <dgm:spPr/>
    </dgm:pt>
    <dgm:pt modelId="{414023AA-BA90-441C-8314-73FE74C427DC}" type="pres">
      <dgm:prSet presAssocID="{8D173DF4-6D54-4EF9-9125-BCE035BEE6C6}" presName="ThreeNodes_1_text" presStyleLbl="node1" presStyleIdx="2" presStyleCnt="3">
        <dgm:presLayoutVars>
          <dgm:bulletEnabled val="1"/>
        </dgm:presLayoutVars>
      </dgm:prSet>
      <dgm:spPr/>
    </dgm:pt>
    <dgm:pt modelId="{7AAA39EA-E4FA-42A2-BDE0-CC9CB5CFBC4A}" type="pres">
      <dgm:prSet presAssocID="{8D173DF4-6D54-4EF9-9125-BCE035BEE6C6}" presName="ThreeNodes_2_text" presStyleLbl="node1" presStyleIdx="2" presStyleCnt="3">
        <dgm:presLayoutVars>
          <dgm:bulletEnabled val="1"/>
        </dgm:presLayoutVars>
      </dgm:prSet>
      <dgm:spPr/>
    </dgm:pt>
    <dgm:pt modelId="{E70F9714-49E6-43DC-8472-3469FF9381B9}" type="pres">
      <dgm:prSet presAssocID="{8D173DF4-6D54-4EF9-9125-BCE035BEE6C6}" presName="ThreeNodes_3_text" presStyleLbl="node1" presStyleIdx="2" presStyleCnt="3">
        <dgm:presLayoutVars>
          <dgm:bulletEnabled val="1"/>
        </dgm:presLayoutVars>
      </dgm:prSet>
      <dgm:spPr/>
    </dgm:pt>
  </dgm:ptLst>
  <dgm:cxnLst>
    <dgm:cxn modelId="{9ACDF50E-CD57-41D8-9CE5-AB5CFCAD7145}" type="presOf" srcId="{17A709B1-F0C6-422E-81F5-272BF8D060D7}" destId="{13628629-D99E-409D-A4A3-38A6DE4B9315}" srcOrd="0" destOrd="0" presId="urn:microsoft.com/office/officeart/2005/8/layout/vProcess5"/>
    <dgm:cxn modelId="{299D801D-61D5-4BCD-BC80-488916965974}" type="presOf" srcId="{3423DC3E-203E-442E-9188-3886D6CA2232}" destId="{414023AA-BA90-441C-8314-73FE74C427DC}" srcOrd="1" destOrd="0" presId="urn:microsoft.com/office/officeart/2005/8/layout/vProcess5"/>
    <dgm:cxn modelId="{C820861F-3F0D-4A02-ACA3-3BE16D846CBA}" type="presOf" srcId="{F7328DF6-E1B8-401A-9DAD-5EC5F0AA70AA}" destId="{1815C5FD-3B14-4E64-A4F0-F6ADFA88642F}" srcOrd="0" destOrd="0" presId="urn:microsoft.com/office/officeart/2005/8/layout/vProcess5"/>
    <dgm:cxn modelId="{97921561-CFF0-42C1-A032-86D7FF559FB5}" srcId="{8D173DF4-6D54-4EF9-9125-BCE035BEE6C6}" destId="{3423DC3E-203E-442E-9188-3886D6CA2232}" srcOrd="0" destOrd="0" parTransId="{42233BA6-6964-4798-8864-3B795424E867}" sibTransId="{17A709B1-F0C6-422E-81F5-272BF8D060D7}"/>
    <dgm:cxn modelId="{3CE9BA4D-D2C3-4435-8277-ECBBEFA7BAC5}" type="presOf" srcId="{5250194E-EBDB-45D4-ACBA-E6D93AC3370E}" destId="{9C90A52B-1FC7-451A-89AF-E3043F74BCD5}" srcOrd="0" destOrd="0" presId="urn:microsoft.com/office/officeart/2005/8/layout/vProcess5"/>
    <dgm:cxn modelId="{96419754-03D9-4022-A5B6-D6E1983963AF}" type="presOf" srcId="{A1D2DF8C-9DFE-4E41-95A8-80DCAD1128B4}" destId="{775A71B3-2D35-4D02-80D2-F43F6C42A4E7}" srcOrd="0" destOrd="0" presId="urn:microsoft.com/office/officeart/2005/8/layout/vProcess5"/>
    <dgm:cxn modelId="{8B685756-C3EE-4A81-93C0-BB44BEAC373B}" type="presOf" srcId="{A1D2DF8C-9DFE-4E41-95A8-80DCAD1128B4}" destId="{E70F9714-49E6-43DC-8472-3469FF9381B9}" srcOrd="1" destOrd="0" presId="urn:microsoft.com/office/officeart/2005/8/layout/vProcess5"/>
    <dgm:cxn modelId="{814EE758-EEE2-4B24-84D5-FCFAF2F16139}" srcId="{8D173DF4-6D54-4EF9-9125-BCE035BEE6C6}" destId="{F7328DF6-E1B8-401A-9DAD-5EC5F0AA70AA}" srcOrd="1" destOrd="0" parTransId="{B9CED768-E9A8-4777-B2CA-9B7EE66BB118}" sibTransId="{5250194E-EBDB-45D4-ACBA-E6D93AC3370E}"/>
    <dgm:cxn modelId="{1B7B2987-6017-4B50-955F-682BB0971CA5}" type="presOf" srcId="{8D173DF4-6D54-4EF9-9125-BCE035BEE6C6}" destId="{7CB97631-5228-46F0-A8A1-E283D843BD40}" srcOrd="0" destOrd="0" presId="urn:microsoft.com/office/officeart/2005/8/layout/vProcess5"/>
    <dgm:cxn modelId="{72DFA2C4-5C9C-4B18-9B5D-76C10A00AF31}" type="presOf" srcId="{3423DC3E-203E-442E-9188-3886D6CA2232}" destId="{888CEB7B-B988-4A8B-AA1D-564893020C27}" srcOrd="0" destOrd="0" presId="urn:microsoft.com/office/officeart/2005/8/layout/vProcess5"/>
    <dgm:cxn modelId="{1F0F79DA-5C49-491C-ACAA-17772EA3EE29}" type="presOf" srcId="{F7328DF6-E1B8-401A-9DAD-5EC5F0AA70AA}" destId="{7AAA39EA-E4FA-42A2-BDE0-CC9CB5CFBC4A}" srcOrd="1" destOrd="0" presId="urn:microsoft.com/office/officeart/2005/8/layout/vProcess5"/>
    <dgm:cxn modelId="{D2D18AEB-83FE-438B-A2B0-23EA35C73A6A}" srcId="{8D173DF4-6D54-4EF9-9125-BCE035BEE6C6}" destId="{A1D2DF8C-9DFE-4E41-95A8-80DCAD1128B4}" srcOrd="2" destOrd="0" parTransId="{C572D93E-4926-441A-B101-8E50ED2EC117}" sibTransId="{25912DEF-CE71-4FA7-9462-A2C20240B40C}"/>
    <dgm:cxn modelId="{D5274511-0562-4FAA-A318-3C8E29EB7A7E}" type="presParOf" srcId="{7CB97631-5228-46F0-A8A1-E283D843BD40}" destId="{23E5FEE1-1BD2-465B-A499-764C29BB0070}" srcOrd="0" destOrd="0" presId="urn:microsoft.com/office/officeart/2005/8/layout/vProcess5"/>
    <dgm:cxn modelId="{2BE34342-7921-4C76-8316-8CC3B13B7AEB}" type="presParOf" srcId="{7CB97631-5228-46F0-A8A1-E283D843BD40}" destId="{888CEB7B-B988-4A8B-AA1D-564893020C27}" srcOrd="1" destOrd="0" presId="urn:microsoft.com/office/officeart/2005/8/layout/vProcess5"/>
    <dgm:cxn modelId="{9D99DE6D-E907-4160-B624-AC67894CFAEB}" type="presParOf" srcId="{7CB97631-5228-46F0-A8A1-E283D843BD40}" destId="{1815C5FD-3B14-4E64-A4F0-F6ADFA88642F}" srcOrd="2" destOrd="0" presId="urn:microsoft.com/office/officeart/2005/8/layout/vProcess5"/>
    <dgm:cxn modelId="{C8CC9A76-4450-47AF-8992-1C8559A49D5A}" type="presParOf" srcId="{7CB97631-5228-46F0-A8A1-E283D843BD40}" destId="{775A71B3-2D35-4D02-80D2-F43F6C42A4E7}" srcOrd="3" destOrd="0" presId="urn:microsoft.com/office/officeart/2005/8/layout/vProcess5"/>
    <dgm:cxn modelId="{761E1333-7CBF-48F3-AFB2-1512CA86F7B4}" type="presParOf" srcId="{7CB97631-5228-46F0-A8A1-E283D843BD40}" destId="{13628629-D99E-409D-A4A3-38A6DE4B9315}" srcOrd="4" destOrd="0" presId="urn:microsoft.com/office/officeart/2005/8/layout/vProcess5"/>
    <dgm:cxn modelId="{58639B85-AAE4-464C-9C00-9BF28F143C07}" type="presParOf" srcId="{7CB97631-5228-46F0-A8A1-E283D843BD40}" destId="{9C90A52B-1FC7-451A-89AF-E3043F74BCD5}" srcOrd="5" destOrd="0" presId="urn:microsoft.com/office/officeart/2005/8/layout/vProcess5"/>
    <dgm:cxn modelId="{00EB3486-BA28-44E5-85C7-48778E0C73FD}" type="presParOf" srcId="{7CB97631-5228-46F0-A8A1-E283D843BD40}" destId="{414023AA-BA90-441C-8314-73FE74C427DC}" srcOrd="6" destOrd="0" presId="urn:microsoft.com/office/officeart/2005/8/layout/vProcess5"/>
    <dgm:cxn modelId="{8188BA33-C743-4584-9362-3567DE7AC612}" type="presParOf" srcId="{7CB97631-5228-46F0-A8A1-E283D843BD40}" destId="{7AAA39EA-E4FA-42A2-BDE0-CC9CB5CFBC4A}" srcOrd="7" destOrd="0" presId="urn:microsoft.com/office/officeart/2005/8/layout/vProcess5"/>
    <dgm:cxn modelId="{BDCBA510-970F-4A67-BB0E-4BD00E4A2CD6}" type="presParOf" srcId="{7CB97631-5228-46F0-A8A1-E283D843BD40}" destId="{E70F9714-49E6-43DC-8472-3469FF9381B9}"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05287-4E3D-4DD1-984C-E07E80EC2C04}">
      <dsp:nvSpPr>
        <dsp:cNvPr id="0" name=""/>
        <dsp:cNvSpPr/>
      </dsp:nvSpPr>
      <dsp:spPr>
        <a:xfrm>
          <a:off x="752855" y="0"/>
          <a:ext cx="8532367" cy="5435600"/>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D9BDF4-FB05-4EB1-AFF3-977DB6724B1F}">
      <dsp:nvSpPr>
        <dsp:cNvPr id="0" name=""/>
        <dsp:cNvSpPr/>
      </dsp:nvSpPr>
      <dsp:spPr>
        <a:xfrm>
          <a:off x="2757" y="1630680"/>
          <a:ext cx="1605210" cy="217424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b="1" i="0" kern="1200" baseline="0"/>
            <a:t>Amaç</a:t>
          </a:r>
          <a:r>
            <a:rPr lang="tr-TR" sz="1200" b="0" i="0" kern="1200" baseline="0"/>
            <a:t>: Gıda sektöründe bilişim teknolojilerinin rolünü inceleyerek, dünyadaki ve Türkiye’deki örnekleri ve gelecekteki potansiyelini ortaya koymak.</a:t>
          </a:r>
          <a:endParaRPr lang="en-US" sz="1200" kern="1200"/>
        </a:p>
      </dsp:txBody>
      <dsp:txXfrm>
        <a:off x="81117" y="1709040"/>
        <a:ext cx="1448490" cy="2017520"/>
      </dsp:txXfrm>
    </dsp:sp>
    <dsp:sp modelId="{F7B51FC5-061D-46BC-A20A-0FA4D40ADDBE}">
      <dsp:nvSpPr>
        <dsp:cNvPr id="0" name=""/>
        <dsp:cNvSpPr/>
      </dsp:nvSpPr>
      <dsp:spPr>
        <a:xfrm>
          <a:off x="1688227" y="1630680"/>
          <a:ext cx="1605210" cy="2174240"/>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b="1" i="0" kern="1200" baseline="0"/>
            <a:t>İçerik Başlıkları</a:t>
          </a:r>
          <a:r>
            <a:rPr lang="tr-TR" sz="1200" b="0" i="0" kern="1200" baseline="0"/>
            <a:t>:</a:t>
          </a:r>
          <a:endParaRPr lang="en-US" sz="1200" kern="1200"/>
        </a:p>
      </dsp:txBody>
      <dsp:txXfrm>
        <a:off x="1766587" y="1709040"/>
        <a:ext cx="1448490" cy="2017520"/>
      </dsp:txXfrm>
    </dsp:sp>
    <dsp:sp modelId="{354E636B-9B8E-459C-BA24-8B204667BF68}">
      <dsp:nvSpPr>
        <dsp:cNvPr id="0" name=""/>
        <dsp:cNvSpPr/>
      </dsp:nvSpPr>
      <dsp:spPr>
        <a:xfrm>
          <a:off x="3373698" y="1630680"/>
          <a:ext cx="1605210" cy="2174240"/>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b="0" i="0" kern="1200" baseline="0"/>
            <a:t>Gıda sektöründe dijital dönüşüm</a:t>
          </a:r>
          <a:endParaRPr lang="en-US" sz="1200" kern="1200"/>
        </a:p>
      </dsp:txBody>
      <dsp:txXfrm>
        <a:off x="3452058" y="1709040"/>
        <a:ext cx="1448490" cy="2017520"/>
      </dsp:txXfrm>
    </dsp:sp>
    <dsp:sp modelId="{4A51AAEE-863D-4AB0-A519-39793D09B4AE}">
      <dsp:nvSpPr>
        <dsp:cNvPr id="0" name=""/>
        <dsp:cNvSpPr/>
      </dsp:nvSpPr>
      <dsp:spPr>
        <a:xfrm>
          <a:off x="5059169" y="1630680"/>
          <a:ext cx="1605210" cy="217424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b="0" i="0" kern="1200" baseline="0"/>
            <a:t>Teknolojinin sektöre etkisi (dünya ve Türkiye)</a:t>
          </a:r>
          <a:endParaRPr lang="en-US" sz="1200" kern="1200"/>
        </a:p>
      </dsp:txBody>
      <dsp:txXfrm>
        <a:off x="5137529" y="1709040"/>
        <a:ext cx="1448490" cy="2017520"/>
      </dsp:txXfrm>
    </dsp:sp>
    <dsp:sp modelId="{F3F11FDC-4F27-4277-9F59-D37574816871}">
      <dsp:nvSpPr>
        <dsp:cNvPr id="0" name=""/>
        <dsp:cNvSpPr/>
      </dsp:nvSpPr>
      <dsp:spPr>
        <a:xfrm>
          <a:off x="6744640" y="1630680"/>
          <a:ext cx="1605210" cy="2174240"/>
        </a:xfrm>
        <a:prstGeom prst="roundRect">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kern="1200"/>
            <a:t>Gıda Sektöründe Gelecekte Bilişim Teknolojileri </a:t>
          </a:r>
          <a:endParaRPr lang="en-US" sz="1200" kern="1200"/>
        </a:p>
      </dsp:txBody>
      <dsp:txXfrm>
        <a:off x="6823000" y="1709040"/>
        <a:ext cx="1448490" cy="2017520"/>
      </dsp:txXfrm>
    </dsp:sp>
    <dsp:sp modelId="{3B0022C8-5148-4F5D-A16C-993C2809A2F7}">
      <dsp:nvSpPr>
        <dsp:cNvPr id="0" name=""/>
        <dsp:cNvSpPr/>
      </dsp:nvSpPr>
      <dsp:spPr>
        <a:xfrm>
          <a:off x="8430111" y="1630680"/>
          <a:ext cx="1605210" cy="217424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b="0" i="0" kern="1200" baseline="0"/>
            <a:t>Sonuçlar</a:t>
          </a:r>
          <a:endParaRPr lang="en-US" sz="1200" kern="1200"/>
        </a:p>
      </dsp:txBody>
      <dsp:txXfrm>
        <a:off x="8508471" y="1709040"/>
        <a:ext cx="1448490" cy="20175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8CEB7B-B988-4A8B-AA1D-564893020C27}">
      <dsp:nvSpPr>
        <dsp:cNvPr id="0" name=""/>
        <dsp:cNvSpPr/>
      </dsp:nvSpPr>
      <dsp:spPr>
        <a:xfrm>
          <a:off x="0" y="0"/>
          <a:ext cx="8175413" cy="1228044"/>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b="1" kern="1200"/>
            <a:t>Yeni İş Modelleri ve Yenilikler</a:t>
          </a:r>
          <a:endParaRPr lang="en-US" sz="2000" kern="1200"/>
        </a:p>
      </dsp:txBody>
      <dsp:txXfrm>
        <a:off x="35968" y="35968"/>
        <a:ext cx="6850257" cy="1156108"/>
      </dsp:txXfrm>
    </dsp:sp>
    <dsp:sp modelId="{1815C5FD-3B14-4E64-A4F0-F6ADFA88642F}">
      <dsp:nvSpPr>
        <dsp:cNvPr id="0" name=""/>
        <dsp:cNvSpPr/>
      </dsp:nvSpPr>
      <dsp:spPr>
        <a:xfrm>
          <a:off x="721359" y="1432718"/>
          <a:ext cx="8175413" cy="1228044"/>
        </a:xfrm>
        <a:prstGeom prst="roundRect">
          <a:avLst>
            <a:gd name="adj" fmla="val 10000"/>
          </a:avLst>
        </a:prstGeom>
        <a:solidFill>
          <a:schemeClr val="accent2">
            <a:hueOff val="-1482143"/>
            <a:satOff val="7100"/>
            <a:lumOff val="656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b="1" kern="1200"/>
            <a:t>E-Ticaret ve Yeni İş Modelleri</a:t>
          </a:r>
          <a:r>
            <a:rPr lang="tr-TR" sz="2000" kern="1200"/>
            <a:t>: Gıda perakendeciliğinde e-ticaretin daha da büyümesi, ürünlerin dijital platformlar üzerinden hızlıca sipariş edilmesi.</a:t>
          </a:r>
          <a:endParaRPr lang="en-US" sz="2000" kern="1200"/>
        </a:p>
      </dsp:txBody>
      <dsp:txXfrm>
        <a:off x="757327" y="1468686"/>
        <a:ext cx="6583888" cy="1156108"/>
      </dsp:txXfrm>
    </dsp:sp>
    <dsp:sp modelId="{775A71B3-2D35-4D02-80D2-F43F6C42A4E7}">
      <dsp:nvSpPr>
        <dsp:cNvPr id="0" name=""/>
        <dsp:cNvSpPr/>
      </dsp:nvSpPr>
      <dsp:spPr>
        <a:xfrm>
          <a:off x="1442719" y="2865437"/>
          <a:ext cx="8175413" cy="1228044"/>
        </a:xfrm>
        <a:prstGeom prst="roundRect">
          <a:avLst>
            <a:gd name="adj" fmla="val 10000"/>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b="1" kern="1200"/>
            <a:t>Yapay Zeka ile Kişiselleştirilmiş Beslenme</a:t>
          </a:r>
          <a:r>
            <a:rPr lang="tr-TR" sz="2000" kern="1200"/>
            <a:t>: Gıda firmaları, tüketicilerin beslenme alışkanlıklarına göre kişiselleştirilmiş ürün önerileri sunacak.</a:t>
          </a:r>
          <a:endParaRPr lang="en-US" sz="2000" kern="1200"/>
        </a:p>
      </dsp:txBody>
      <dsp:txXfrm>
        <a:off x="1478687" y="2901405"/>
        <a:ext cx="6583888" cy="1156108"/>
      </dsp:txXfrm>
    </dsp:sp>
    <dsp:sp modelId="{13628629-D99E-409D-A4A3-38A6DE4B9315}">
      <dsp:nvSpPr>
        <dsp:cNvPr id="0" name=""/>
        <dsp:cNvSpPr/>
      </dsp:nvSpPr>
      <dsp:spPr>
        <a:xfrm>
          <a:off x="7377184" y="931267"/>
          <a:ext cx="798228" cy="798228"/>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556785" y="931267"/>
        <a:ext cx="439026" cy="600667"/>
      </dsp:txXfrm>
    </dsp:sp>
    <dsp:sp modelId="{9C90A52B-1FC7-451A-89AF-E3043F74BCD5}">
      <dsp:nvSpPr>
        <dsp:cNvPr id="0" name=""/>
        <dsp:cNvSpPr/>
      </dsp:nvSpPr>
      <dsp:spPr>
        <a:xfrm>
          <a:off x="8098544" y="2355798"/>
          <a:ext cx="798228" cy="798228"/>
        </a:xfrm>
        <a:prstGeom prst="downArrow">
          <a:avLst>
            <a:gd name="adj1" fmla="val 55000"/>
            <a:gd name="adj2" fmla="val 45000"/>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78145" y="2355798"/>
        <a:ext cx="439026" cy="60066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6D22AACC-5AF8-4080-B66C-5301C586C87D}" type="datetimeFigureOut">
              <a:rPr lang="tr-TR" smtClean="0"/>
              <a:t>29.11.2024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4126294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D22AACC-5AF8-4080-B66C-5301C586C87D}" type="datetimeFigureOut">
              <a:rPr lang="tr-TR" smtClean="0"/>
              <a:t>29.11.2024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2481283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D22AACC-5AF8-4080-B66C-5301C586C87D}" type="datetimeFigureOut">
              <a:rPr lang="tr-TR" smtClean="0"/>
              <a:t>29.11.2024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499819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6D22AACC-5AF8-4080-B66C-5301C586C87D}" type="datetimeFigureOut">
              <a:rPr lang="tr-TR" smtClean="0"/>
              <a:t>29.11.2024</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1077849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6D22AACC-5AF8-4080-B66C-5301C586C87D}" type="datetimeFigureOut">
              <a:rPr lang="tr-TR" smtClean="0"/>
              <a:t>29.11.2024</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3524547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6D22AACC-5AF8-4080-B66C-5301C586C87D}" type="datetimeFigureOut">
              <a:rPr lang="tr-TR" smtClean="0"/>
              <a:t>29.11.2024</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389866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22AACC-5AF8-4080-B66C-5301C586C87D}" type="datetimeFigureOut">
              <a:rPr lang="tr-TR" smtClean="0"/>
              <a:t>29.11.2024</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57090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tr-TR"/>
              <a:t>Asıl başlık stilini düzenlemek için tıklayın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D22AACC-5AF8-4080-B66C-5301C586C87D}" type="datetimeFigureOut">
              <a:rPr lang="tr-TR" smtClean="0"/>
              <a:t>29.11.2024</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956187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D22AACC-5AF8-4080-B66C-5301C586C87D}" type="datetimeFigureOut">
              <a:rPr lang="tr-TR" smtClean="0"/>
              <a:t>29.11.2024</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2697125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D22AACC-5AF8-4080-B66C-5301C586C87D}" type="datetimeFigureOut">
              <a:rPr lang="tr-TR" smtClean="0"/>
              <a:t>29.11.2024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561433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D22AACC-5AF8-4080-B66C-5301C586C87D}" type="datetimeFigureOut">
              <a:rPr lang="tr-TR" smtClean="0"/>
              <a:t>29.11.2024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806CF76-CFA2-44E1-B3B0-47114F1AECD3}" type="slidenum">
              <a:rPr lang="tr-TR" smtClean="0"/>
              <a:t>‹#›</a:t>
            </a:fld>
            <a:endParaRPr lang="tr-T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93853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D22AACC-5AF8-4080-B66C-5301C586C87D}" type="datetimeFigureOut">
              <a:rPr lang="tr-TR" smtClean="0"/>
              <a:t>29.11.2024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3402365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D22AACC-5AF8-4080-B66C-5301C586C87D}" type="datetimeFigureOut">
              <a:rPr lang="tr-TR" smtClean="0"/>
              <a:t>29.11.2024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806CF76-CFA2-44E1-B3B0-47114F1AECD3}" type="slidenum">
              <a:rPr lang="tr-TR" smtClean="0"/>
              <a:t>‹#›</a:t>
            </a:fld>
            <a:endParaRPr lang="tr-T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64288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D22AACC-5AF8-4080-B66C-5301C586C87D}" type="datetimeFigureOut">
              <a:rPr lang="tr-TR" smtClean="0"/>
              <a:t>29.11.2024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25287783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D22AACC-5AF8-4080-B66C-5301C586C87D}" type="datetimeFigureOut">
              <a:rPr lang="tr-TR" smtClean="0"/>
              <a:t>29.11.2024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3259349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D22AACC-5AF8-4080-B66C-5301C586C87D}" type="datetimeFigureOut">
              <a:rPr lang="tr-TR" smtClean="0"/>
              <a:t>29.11.2024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806CF76-CFA2-44E1-B3B0-47114F1AECD3}" type="slidenum">
              <a:rPr lang="tr-TR" smtClean="0"/>
              <a:t>‹#›</a:t>
            </a:fld>
            <a:endParaRPr lang="tr-TR"/>
          </a:p>
        </p:txBody>
      </p:sp>
    </p:spTree>
    <p:extLst>
      <p:ext uri="{BB962C8B-B14F-4D97-AF65-F5344CB8AC3E}">
        <p14:creationId xmlns:p14="http://schemas.microsoft.com/office/powerpoint/2010/main" val="3466995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22AACC-5AF8-4080-B66C-5301C586C87D}" type="datetimeFigureOut">
              <a:rPr lang="tr-TR" smtClean="0"/>
              <a:t>29.11.2024</a:t>
            </a:fld>
            <a:endParaRPr lang="tr-T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806CF76-CFA2-44E1-B3B0-47114F1AECD3}" type="slidenum">
              <a:rPr lang="tr-TR" smtClean="0"/>
              <a:t>‹#›</a:t>
            </a:fld>
            <a:endParaRPr lang="tr-TR"/>
          </a:p>
        </p:txBody>
      </p:sp>
    </p:spTree>
    <p:extLst>
      <p:ext uri="{BB962C8B-B14F-4D97-AF65-F5344CB8AC3E}">
        <p14:creationId xmlns:p14="http://schemas.microsoft.com/office/powerpoint/2010/main" val="4282903383"/>
      </p:ext>
    </p:extLst>
  </p:cSld>
  <p:clrMap bg1="lt1" tx1="dk1" bg2="lt2" tx2="dk2" accent1="accent1" accent2="accent2" accent3="accent3" accent4="accent4" accent5="accent5" accent6="accent6" hlink="hlink" folHlink="folHlink"/>
  <p:sldLayoutIdLst>
    <p:sldLayoutId id="2147484068" r:id="rId1"/>
    <p:sldLayoutId id="2147484069" r:id="rId2"/>
    <p:sldLayoutId id="2147484070" r:id="rId3"/>
    <p:sldLayoutId id="2147484071" r:id="rId4"/>
    <p:sldLayoutId id="2147484072" r:id="rId5"/>
    <p:sldLayoutId id="2147484073" r:id="rId6"/>
    <p:sldLayoutId id="2147484074" r:id="rId7"/>
    <p:sldLayoutId id="2147484075" r:id="rId8"/>
    <p:sldLayoutId id="2147484076" r:id="rId9"/>
    <p:sldLayoutId id="2147484077" r:id="rId10"/>
    <p:sldLayoutId id="2147484078" r:id="rId11"/>
    <p:sldLayoutId id="2147484079" r:id="rId12"/>
    <p:sldLayoutId id="2147484080" r:id="rId13"/>
    <p:sldLayoutId id="2147484081" r:id="rId14"/>
    <p:sldLayoutId id="2147484082" r:id="rId15"/>
    <p:sldLayoutId id="214748408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898DB4-5DFA-8CF4-1D10-CB66C71B6715}"/>
              </a:ext>
            </a:extLst>
          </p:cNvPr>
          <p:cNvSpPr>
            <a:spLocks noGrp="1"/>
          </p:cNvSpPr>
          <p:nvPr>
            <p:ph type="title"/>
          </p:nvPr>
        </p:nvSpPr>
        <p:spPr/>
        <p:txBody>
          <a:bodyPr>
            <a:normAutofit/>
          </a:bodyPr>
          <a:lstStyle/>
          <a:p>
            <a:r>
              <a:rPr lang="tr-TR" sz="4000" dirty="0">
                <a:latin typeface="Arial" panose="020B0604020202020204" pitchFamily="34" charset="0"/>
                <a:cs typeface="Arial" panose="020B0604020202020204" pitchFamily="34" charset="0"/>
              </a:rPr>
              <a:t>Dünyada ve Türkiye de Gıda Sektöründe bilişim teknolojileri </a:t>
            </a:r>
          </a:p>
        </p:txBody>
      </p:sp>
      <p:sp>
        <p:nvSpPr>
          <p:cNvPr id="3" name="İçerik Yer Tutucusu 2">
            <a:extLst>
              <a:ext uri="{FF2B5EF4-FFF2-40B4-BE49-F238E27FC236}">
                <a16:creationId xmlns:a16="http://schemas.microsoft.com/office/drawing/2014/main" id="{BC03E355-CF49-AF8C-B1D8-8DCC05569525}"/>
              </a:ext>
            </a:extLst>
          </p:cNvPr>
          <p:cNvSpPr>
            <a:spLocks noGrp="1"/>
          </p:cNvSpPr>
          <p:nvPr>
            <p:ph idx="1"/>
          </p:nvPr>
        </p:nvSpPr>
        <p:spPr>
          <a:xfrm>
            <a:off x="677334" y="2499256"/>
            <a:ext cx="7873999" cy="1505478"/>
          </a:xfrm>
        </p:spPr>
        <p:txBody>
          <a:bodyPr/>
          <a:lstStyle/>
          <a:p>
            <a:r>
              <a:rPr lang="tr-TR" sz="2800" dirty="0"/>
              <a:t>"</a:t>
            </a:r>
            <a:r>
              <a:rPr lang="tr-TR" sz="2800" dirty="0">
                <a:latin typeface="Calibri" panose="020F0502020204030204" pitchFamily="34" charset="0"/>
                <a:ea typeface="Calibri" panose="020F0502020204030204" pitchFamily="34" charset="0"/>
                <a:cs typeface="Calibri" panose="020F0502020204030204" pitchFamily="34" charset="0"/>
              </a:rPr>
              <a:t>Gıda Sektöründe Dijitalleşme ve Teknolojinin Rolü"</a:t>
            </a:r>
          </a:p>
          <a:p>
            <a:endParaRPr lang="tr-TR" dirty="0"/>
          </a:p>
        </p:txBody>
      </p:sp>
      <p:sp>
        <p:nvSpPr>
          <p:cNvPr id="4" name="Metin kutusu 3">
            <a:extLst>
              <a:ext uri="{FF2B5EF4-FFF2-40B4-BE49-F238E27FC236}">
                <a16:creationId xmlns:a16="http://schemas.microsoft.com/office/drawing/2014/main" id="{554F3DE2-9C9F-CF11-4B58-651406D3C418}"/>
              </a:ext>
            </a:extLst>
          </p:cNvPr>
          <p:cNvSpPr txBox="1"/>
          <p:nvPr/>
        </p:nvSpPr>
        <p:spPr>
          <a:xfrm>
            <a:off x="5963920" y="4690534"/>
            <a:ext cx="4207933" cy="1077218"/>
          </a:xfrm>
          <a:prstGeom prst="rect">
            <a:avLst/>
          </a:prstGeom>
          <a:noFill/>
        </p:spPr>
        <p:txBody>
          <a:bodyPr wrap="square" rtlCol="0">
            <a:spAutoFit/>
          </a:bodyPr>
          <a:lstStyle/>
          <a:p>
            <a:r>
              <a:rPr lang="tr-TR" sz="3200" dirty="0">
                <a:latin typeface="Times New Roman" panose="02020603050405020304" pitchFamily="18" charset="0"/>
                <a:cs typeface="Times New Roman" panose="02020603050405020304" pitchFamily="18" charset="0"/>
              </a:rPr>
              <a:t>İsmail Alpak</a:t>
            </a:r>
          </a:p>
          <a:p>
            <a:r>
              <a:rPr lang="tr-TR" sz="3200" dirty="0">
                <a:latin typeface="Times New Roman" panose="02020603050405020304" pitchFamily="18" charset="0"/>
                <a:cs typeface="Times New Roman" panose="02020603050405020304" pitchFamily="18" charset="0"/>
              </a:rPr>
              <a:t>29.11.2024</a:t>
            </a:r>
          </a:p>
        </p:txBody>
      </p:sp>
    </p:spTree>
    <p:extLst>
      <p:ext uri="{BB962C8B-B14F-4D97-AF65-F5344CB8AC3E}">
        <p14:creationId xmlns:p14="http://schemas.microsoft.com/office/powerpoint/2010/main" val="308704395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90D54C1-69CE-49AC-A448-1B8C7C04DBF8}"/>
              </a:ext>
            </a:extLst>
          </p:cNvPr>
          <p:cNvSpPr>
            <a:spLocks noGrp="1"/>
          </p:cNvSpPr>
          <p:nvPr>
            <p:ph idx="1"/>
          </p:nvPr>
        </p:nvSpPr>
        <p:spPr>
          <a:xfrm>
            <a:off x="601134" y="408413"/>
            <a:ext cx="8596668" cy="3880773"/>
          </a:xfrm>
        </p:spPr>
        <p:txBody>
          <a:bodyPr>
            <a:normAutofit/>
          </a:bodyPr>
          <a:lstStyle/>
          <a:p>
            <a:r>
              <a:rPr lang="tr-TR" sz="2400" dirty="0">
                <a:latin typeface="Arial" panose="020B0604020202020204" pitchFamily="34" charset="0"/>
                <a:ea typeface="Calibri" panose="020F0502020204030204" pitchFamily="34" charset="0"/>
                <a:cs typeface="Arial" panose="020B0604020202020204" pitchFamily="34" charset="0"/>
              </a:rPr>
              <a:t>Bu sunumda, gıda sektöründeki dijital dönüşümün dünyadaki ve Türkiye’deki yeri, bilişim teknolojilerinin sektördeki rolü  üzerinde durulacaktır."</a:t>
            </a:r>
          </a:p>
        </p:txBody>
      </p:sp>
      <p:sp>
        <p:nvSpPr>
          <p:cNvPr id="6" name="Rectangle 2">
            <a:extLst>
              <a:ext uri="{FF2B5EF4-FFF2-40B4-BE49-F238E27FC236}">
                <a16:creationId xmlns:a16="http://schemas.microsoft.com/office/drawing/2014/main" id="{7242122E-7710-7DA1-1F9B-C303FD96764C}"/>
              </a:ext>
            </a:extLst>
          </p:cNvPr>
          <p:cNvSpPr>
            <a:spLocks noChangeArrowheads="1"/>
          </p:cNvSpPr>
          <p:nvPr/>
        </p:nvSpPr>
        <p:spPr bwMode="auto">
          <a:xfrm>
            <a:off x="512838" y="2274838"/>
            <a:ext cx="908836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1" i="0" u="none" strike="noStrike" cap="none" normalizeH="0" baseline="0" dirty="0">
                <a:ln>
                  <a:noFill/>
                </a:ln>
                <a:solidFill>
                  <a:schemeClr val="tx1"/>
                </a:solidFill>
                <a:effectLst/>
                <a:latin typeface="Arial" panose="020B0604020202020204" pitchFamily="34" charset="0"/>
              </a:rPr>
              <a:t>Gıda Sektörünün Önemi</a:t>
            </a:r>
            <a:r>
              <a:rPr kumimoji="0" lang="tr-TR" altLang="tr-TR" sz="2400" b="0" i="0" u="none" strike="noStrike" cap="none" normalizeH="0" baseline="0" dirty="0">
                <a:ln>
                  <a:noFill/>
                </a:ln>
                <a:solidFill>
                  <a:schemeClr val="tx1"/>
                </a:solidFill>
                <a:effectLst/>
                <a:latin typeface="Arial" panose="020B0604020202020204" pitchFamily="34" charset="0"/>
              </a:rPr>
              <a:t>: Gıda sektörü, dünya ekonomisinde kritik bir yere sahiptir. Hem üretim hem de tüketim açısından büyük bir pazar oluşturur.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1" i="0" u="none" strike="noStrike" cap="none" normalizeH="0" baseline="0" dirty="0">
                <a:ln>
                  <a:noFill/>
                </a:ln>
                <a:solidFill>
                  <a:schemeClr val="tx1"/>
                </a:solidFill>
                <a:effectLst/>
                <a:latin typeface="Arial" panose="020B0604020202020204" pitchFamily="34" charset="0"/>
              </a:rPr>
              <a:t>Bilişim Teknolojilerinin Rolü</a:t>
            </a:r>
            <a:r>
              <a:rPr kumimoji="0" lang="tr-TR" altLang="tr-TR" sz="2400" b="0" i="0" u="none" strike="noStrike" cap="none" normalizeH="0" baseline="0" dirty="0">
                <a:ln>
                  <a:noFill/>
                </a:ln>
                <a:solidFill>
                  <a:schemeClr val="tx1"/>
                </a:solidFill>
                <a:effectLst/>
                <a:latin typeface="Arial" panose="020B0604020202020204" pitchFamily="34" charset="0"/>
              </a:rPr>
              <a:t>: Gıda sektöründe bilişim teknolojilerinin kullanımı giderek artmaktadır. Teknolojiler, üretimden tüketime kadar her aşamada etkin bir rol oynamaktadır. </a:t>
            </a:r>
          </a:p>
        </p:txBody>
      </p:sp>
    </p:spTree>
    <p:extLst>
      <p:ext uri="{BB962C8B-B14F-4D97-AF65-F5344CB8AC3E}">
        <p14:creationId xmlns:p14="http://schemas.microsoft.com/office/powerpoint/2010/main" val="1786425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1">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4" name="Isosceles Triangle 13">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graphicFrame>
        <p:nvGraphicFramePr>
          <p:cNvPr id="20" name="Rectangle 1">
            <a:extLst>
              <a:ext uri="{FF2B5EF4-FFF2-40B4-BE49-F238E27FC236}">
                <a16:creationId xmlns:a16="http://schemas.microsoft.com/office/drawing/2014/main" id="{1D87ADE3-58B2-6D5A-9C6E-77048B7B03AE}"/>
              </a:ext>
            </a:extLst>
          </p:cNvPr>
          <p:cNvGraphicFramePr>
            <a:graphicFrameLocks noGrp="1"/>
          </p:cNvGraphicFramePr>
          <p:nvPr>
            <p:ph idx="1"/>
            <p:extLst>
              <p:ext uri="{D42A27DB-BD31-4B8C-83A1-F6EECF244321}">
                <p14:modId xmlns:p14="http://schemas.microsoft.com/office/powerpoint/2010/main" val="3394979554"/>
              </p:ext>
            </p:extLst>
          </p:nvPr>
        </p:nvGraphicFramePr>
        <p:xfrm>
          <a:off x="1076960" y="955040"/>
          <a:ext cx="10038079" cy="5435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2860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76B394BC-16EC-8A06-0105-4827B84D9737}"/>
              </a:ext>
            </a:extLst>
          </p:cNvPr>
          <p:cNvSpPr>
            <a:spLocks noGrp="1"/>
          </p:cNvSpPr>
          <p:nvPr>
            <p:ph type="title"/>
          </p:nvPr>
        </p:nvSpPr>
        <p:spPr>
          <a:xfrm>
            <a:off x="677334" y="609600"/>
            <a:ext cx="3843375" cy="5175624"/>
          </a:xfrm>
        </p:spPr>
        <p:txBody>
          <a:bodyPr anchor="ctr">
            <a:normAutofit/>
          </a:bodyPr>
          <a:lstStyle/>
          <a:p>
            <a:r>
              <a:rPr lang="tr-TR" b="1">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Gıda Sektöründe Bilişim Teknolojilerinin Yeri </a:t>
            </a: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İçerik Yer Tutucusu 2">
            <a:extLst>
              <a:ext uri="{FF2B5EF4-FFF2-40B4-BE49-F238E27FC236}">
                <a16:creationId xmlns:a16="http://schemas.microsoft.com/office/drawing/2014/main" id="{FCD6758F-F961-2492-A062-7BA7033BD526}"/>
              </a:ext>
            </a:extLst>
          </p:cNvPr>
          <p:cNvSpPr>
            <a:spLocks noGrp="1"/>
          </p:cNvSpPr>
          <p:nvPr>
            <p:ph idx="1"/>
          </p:nvPr>
        </p:nvSpPr>
        <p:spPr>
          <a:xfrm>
            <a:off x="6116084" y="609601"/>
            <a:ext cx="5511296" cy="5175624"/>
          </a:xfrm>
        </p:spPr>
        <p:txBody>
          <a:bodyPr anchor="ctr">
            <a:normAutofit lnSpcReduction="10000"/>
          </a:bodyPr>
          <a:lstStyle/>
          <a:p>
            <a:r>
              <a:rPr lang="tr-TR" sz="2800" b="1" dirty="0">
                <a:solidFill>
                  <a:srgbClr val="FFFFFF"/>
                </a:solidFill>
                <a:latin typeface="Arial" panose="020B0604020202020204" pitchFamily="34" charset="0"/>
                <a:cs typeface="Arial" panose="020B0604020202020204" pitchFamily="34" charset="0"/>
              </a:rPr>
              <a:t>Gıda Sektöründe Dijital Dönüşüm</a:t>
            </a:r>
            <a:endParaRPr lang="tr-TR" sz="2800" dirty="0">
              <a:solidFill>
                <a:srgbClr val="FFFFFF"/>
              </a:solidFill>
              <a:latin typeface="Arial" panose="020B0604020202020204" pitchFamily="34" charset="0"/>
              <a:cs typeface="Arial" panose="020B0604020202020204" pitchFamily="34" charset="0"/>
            </a:endParaRPr>
          </a:p>
          <a:p>
            <a:pPr>
              <a:buFont typeface="Arial" panose="020B0604020202020204" pitchFamily="34" charset="0"/>
              <a:buChar char="•"/>
            </a:pPr>
            <a:r>
              <a:rPr lang="tr-TR" b="1" dirty="0">
                <a:solidFill>
                  <a:srgbClr val="FFFFFF"/>
                </a:solidFill>
                <a:latin typeface="Arial" panose="020B0604020202020204" pitchFamily="34" charset="0"/>
                <a:cs typeface="Arial" panose="020B0604020202020204" pitchFamily="34" charset="0"/>
              </a:rPr>
              <a:t>Giriş</a:t>
            </a:r>
            <a:r>
              <a:rPr lang="tr-TR" dirty="0">
                <a:solidFill>
                  <a:srgbClr val="FFFFFF"/>
                </a:solidFill>
                <a:latin typeface="Arial" panose="020B0604020202020204" pitchFamily="34" charset="0"/>
                <a:cs typeface="Arial" panose="020B0604020202020204" pitchFamily="34" charset="0"/>
              </a:rPr>
              <a:t>: Gıda sektörü, üretimden tüketime kadar her aşamada teknolojiden faydalanarak büyük bir dijital dönüşüm geçiriyor.</a:t>
            </a:r>
          </a:p>
          <a:p>
            <a:pPr>
              <a:buFont typeface="Arial" panose="020B0604020202020204" pitchFamily="34" charset="0"/>
              <a:buChar char="•"/>
            </a:pPr>
            <a:r>
              <a:rPr lang="tr-TR" b="1" dirty="0">
                <a:solidFill>
                  <a:srgbClr val="FFFFFF"/>
                </a:solidFill>
                <a:latin typeface="Arial" panose="020B0604020202020204" pitchFamily="34" charset="0"/>
                <a:cs typeface="Arial" panose="020B0604020202020204" pitchFamily="34" charset="0"/>
              </a:rPr>
              <a:t>Teknolojilerin Etkisi</a:t>
            </a:r>
            <a:r>
              <a:rPr lang="tr-TR" dirty="0">
                <a:solidFill>
                  <a:srgbClr val="FFFFFF"/>
                </a:solidFill>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tr-TR" sz="1800" b="1" dirty="0">
                <a:solidFill>
                  <a:srgbClr val="FFFFFF"/>
                </a:solidFill>
                <a:latin typeface="Arial" panose="020B0604020202020204" pitchFamily="34" charset="0"/>
                <a:cs typeface="Arial" panose="020B0604020202020204" pitchFamily="34" charset="0"/>
              </a:rPr>
              <a:t>Veri Analitiği</a:t>
            </a:r>
            <a:r>
              <a:rPr lang="tr-TR" sz="1800" dirty="0">
                <a:solidFill>
                  <a:srgbClr val="FFFFFF"/>
                </a:solidFill>
                <a:latin typeface="Arial" panose="020B0604020202020204" pitchFamily="34" charset="0"/>
                <a:cs typeface="Arial" panose="020B0604020202020204" pitchFamily="34" charset="0"/>
              </a:rPr>
              <a:t>: Üretim süreçlerini optimize etmek ve veri analizi, sensörler ve yapay zeka gibi teknolojileri kullanarak verimliliği artırmaktadır. Gıda üreticileri, bu teknolojileri üretim süreçlerini optimize etmek, gıda güvenliğini sağlamak ve maliyetleri düşürmek için kullanmaktadır.</a:t>
            </a:r>
          </a:p>
          <a:p>
            <a:pPr marL="742950" lvl="1" indent="-285750">
              <a:buFont typeface="Arial" panose="020B0604020202020204" pitchFamily="34" charset="0"/>
              <a:buChar char="•"/>
            </a:pPr>
            <a:r>
              <a:rPr lang="tr-TR" sz="1800" b="1" dirty="0">
                <a:solidFill>
                  <a:srgbClr val="FFFFFF"/>
                </a:solidFill>
                <a:latin typeface="Arial" panose="020B0604020202020204" pitchFamily="34" charset="0"/>
                <a:cs typeface="Arial" panose="020B0604020202020204" pitchFamily="34" charset="0"/>
              </a:rPr>
              <a:t>Yapay Zeka (AI)</a:t>
            </a:r>
            <a:r>
              <a:rPr lang="tr-TR" sz="1800" dirty="0">
                <a:solidFill>
                  <a:srgbClr val="FFFFFF"/>
                </a:solidFill>
                <a:latin typeface="Arial" panose="020B0604020202020204" pitchFamily="34" charset="0"/>
                <a:cs typeface="Arial" panose="020B0604020202020204" pitchFamily="34" charset="0"/>
              </a:rPr>
              <a:t>: Otomatikleştirilmiş süreçler, müşteri hizmetlerinde </a:t>
            </a:r>
            <a:r>
              <a:rPr lang="tr-TR" sz="1800" dirty="0" err="1">
                <a:solidFill>
                  <a:srgbClr val="FFFFFF"/>
                </a:solidFill>
                <a:latin typeface="Arial" panose="020B0604020202020204" pitchFamily="34" charset="0"/>
                <a:cs typeface="Arial" panose="020B0604020202020204" pitchFamily="34" charset="0"/>
              </a:rPr>
              <a:t>chat</a:t>
            </a:r>
            <a:r>
              <a:rPr lang="tr-TR" sz="1800" dirty="0">
                <a:solidFill>
                  <a:srgbClr val="FFFFFF"/>
                </a:solidFill>
                <a:latin typeface="Arial" panose="020B0604020202020204" pitchFamily="34" charset="0"/>
                <a:cs typeface="Arial" panose="020B0604020202020204" pitchFamily="34" charset="0"/>
              </a:rPr>
              <a:t> botlar, ürün öneri sistemleri. </a:t>
            </a:r>
            <a:r>
              <a:rPr lang="nn-NO" sz="1800" dirty="0">
                <a:solidFill>
                  <a:srgbClr val="FFFFFF"/>
                </a:solidFill>
                <a:latin typeface="Arial" panose="020B0604020202020204" pitchFamily="34" charset="0"/>
                <a:cs typeface="Arial" panose="020B0604020202020204" pitchFamily="34" charset="0"/>
              </a:rPr>
              <a:t>Ayrıca, kalite kontrol ve süreç iyileştirme gibi alanlarda da kullanılır.</a:t>
            </a:r>
            <a:endParaRPr lang="tr-TR" sz="1800" dirty="0">
              <a:solidFill>
                <a:srgbClr val="FFFFFF"/>
              </a:solidFill>
              <a:latin typeface="Arial" panose="020B0604020202020204" pitchFamily="34" charset="0"/>
              <a:cs typeface="Arial" panose="020B0604020202020204" pitchFamily="34" charset="0"/>
            </a:endParaRPr>
          </a:p>
          <a:p>
            <a:pPr lvl="1"/>
            <a:endParaRPr lang="tr-TR" dirty="0">
              <a:solidFill>
                <a:srgbClr val="FFFFFF"/>
              </a:solidFill>
            </a:endParaRPr>
          </a:p>
        </p:txBody>
      </p:sp>
    </p:spTree>
    <p:extLst>
      <p:ext uri="{BB962C8B-B14F-4D97-AF65-F5344CB8AC3E}">
        <p14:creationId xmlns:p14="http://schemas.microsoft.com/office/powerpoint/2010/main" val="456828723"/>
      </p:ext>
    </p:extLst>
  </p:cSld>
  <p:clrMapOvr>
    <a:overrideClrMapping bg1="dk1" tx1="lt1" bg2="dk2" tx2="lt2" accent1="accent1" accent2="accent2" accent3="accent3" accent4="accent4" accent5="accent5" accent6="accent6" hlink="hlink" folHlink="folHlink"/>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ED446B-488F-0512-A726-82C4BE157182}"/>
              </a:ext>
            </a:extLst>
          </p:cNvPr>
          <p:cNvSpPr>
            <a:spLocks noGrp="1"/>
          </p:cNvSpPr>
          <p:nvPr>
            <p:ph type="title"/>
          </p:nvPr>
        </p:nvSpPr>
        <p:spPr>
          <a:xfrm>
            <a:off x="6090445" y="609600"/>
            <a:ext cx="3183556" cy="1320800"/>
          </a:xfrm>
        </p:spPr>
        <p:txBody>
          <a:bodyPr anchor="ctr">
            <a:normAutofit/>
          </a:bodyPr>
          <a:lstStyle/>
          <a:p>
            <a:pPr>
              <a:lnSpc>
                <a:spcPct val="90000"/>
              </a:lnSpc>
            </a:pPr>
            <a:r>
              <a:rPr lang="tr-TR" sz="3100" b="1" err="1">
                <a:latin typeface="Arial" panose="020B0604020202020204" pitchFamily="34" charset="0"/>
                <a:cs typeface="Arial" panose="020B0604020202020204" pitchFamily="34" charset="0"/>
              </a:rPr>
              <a:t>IoT</a:t>
            </a:r>
            <a:r>
              <a:rPr lang="tr-TR" sz="3100" b="1">
                <a:latin typeface="Arial" panose="020B0604020202020204" pitchFamily="34" charset="0"/>
                <a:cs typeface="Arial" panose="020B0604020202020204" pitchFamily="34" charset="0"/>
              </a:rPr>
              <a:t> (Nesnelerin İnterneti)</a:t>
            </a:r>
            <a:r>
              <a:rPr lang="tr-TR" sz="3100">
                <a:latin typeface="Arial" panose="020B0604020202020204" pitchFamily="34" charset="0"/>
                <a:cs typeface="Arial" panose="020B0604020202020204" pitchFamily="34" charset="0"/>
              </a:rPr>
              <a:t>:</a:t>
            </a:r>
            <a:endParaRPr lang="tr-TR" sz="3100"/>
          </a:p>
        </p:txBody>
      </p:sp>
      <p:sp>
        <p:nvSpPr>
          <p:cNvPr id="9" name="Content Placeholder 8">
            <a:extLst>
              <a:ext uri="{FF2B5EF4-FFF2-40B4-BE49-F238E27FC236}">
                <a16:creationId xmlns:a16="http://schemas.microsoft.com/office/drawing/2014/main" id="{F5FAF38D-B45E-C0CC-0FFA-33C8A0F5113B}"/>
              </a:ext>
            </a:extLst>
          </p:cNvPr>
          <p:cNvSpPr>
            <a:spLocks noGrp="1"/>
          </p:cNvSpPr>
          <p:nvPr>
            <p:ph idx="1"/>
          </p:nvPr>
        </p:nvSpPr>
        <p:spPr>
          <a:xfrm>
            <a:off x="6094410" y="2160589"/>
            <a:ext cx="3176589" cy="3880773"/>
          </a:xfrm>
        </p:spPr>
        <p:txBody>
          <a:bodyPr>
            <a:normAutofit/>
          </a:bodyPr>
          <a:lstStyle/>
          <a:p>
            <a:r>
              <a:rPr lang="tr-TR">
                <a:latin typeface="Arial" panose="020B0604020202020204" pitchFamily="34" charset="0"/>
                <a:cs typeface="Arial" panose="020B0604020202020204" pitchFamily="34" charset="0"/>
              </a:rPr>
              <a:t>Gıda üretiminde makinelerin birbirine bağlanması,, otomatik envanter yönetimi. Üretimden son tüketiciye kadar olan süreçte ürünlerin sıcaklık, nem, taşıma koşulları gibi veriler anlık olarak takip edilebilmektedir.</a:t>
            </a:r>
          </a:p>
          <a:p>
            <a:endParaRPr lang="en-US" dirty="0"/>
          </a:p>
        </p:txBody>
      </p:sp>
      <p:pic>
        <p:nvPicPr>
          <p:cNvPr id="7" name="Resim 6" descr="metin, bitki, ekran görüntüsü, çim içeren bir resim&#10;&#10;Açıklama otomatik olarak oluşturuldu">
            <a:extLst>
              <a:ext uri="{FF2B5EF4-FFF2-40B4-BE49-F238E27FC236}">
                <a16:creationId xmlns:a16="http://schemas.microsoft.com/office/drawing/2014/main" id="{894F4D2F-BF4B-FB7C-EDE2-D0A50E943F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814" y="891686"/>
            <a:ext cx="5062993" cy="5062993"/>
          </a:xfrm>
          <a:prstGeom prst="rect">
            <a:avLst/>
          </a:prstGeom>
        </p:spPr>
      </p:pic>
    </p:spTree>
    <p:extLst>
      <p:ext uri="{BB962C8B-B14F-4D97-AF65-F5344CB8AC3E}">
        <p14:creationId xmlns:p14="http://schemas.microsoft.com/office/powerpoint/2010/main" val="2859109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İçerik Yer Tutucusu 6">
            <a:extLst>
              <a:ext uri="{FF2B5EF4-FFF2-40B4-BE49-F238E27FC236}">
                <a16:creationId xmlns:a16="http://schemas.microsoft.com/office/drawing/2014/main" id="{AEA153BF-B04E-9BAB-9FC3-D092DDD9C77D}"/>
              </a:ext>
            </a:extLst>
          </p:cNvPr>
          <p:cNvSpPr>
            <a:spLocks noGrp="1"/>
          </p:cNvSpPr>
          <p:nvPr>
            <p:ph idx="1"/>
          </p:nvPr>
        </p:nvSpPr>
        <p:spPr>
          <a:xfrm>
            <a:off x="6336287" y="2160589"/>
            <a:ext cx="2934714" cy="3880773"/>
          </a:xfrm>
        </p:spPr>
        <p:txBody>
          <a:bodyPr>
            <a:normAutofit/>
          </a:bodyPr>
          <a:lstStyle/>
          <a:p>
            <a:r>
              <a:rPr lang="tr-TR" sz="2400" b="1" dirty="0" err="1">
                <a:latin typeface="Arial" panose="020B0604020202020204" pitchFamily="34" charset="0"/>
                <a:cs typeface="Arial" panose="020B0604020202020204" pitchFamily="34" charset="0"/>
              </a:rPr>
              <a:t>Blockchain</a:t>
            </a:r>
            <a:r>
              <a:rPr lang="tr-TR" sz="2400" dirty="0">
                <a:latin typeface="Arial" panose="020B0604020202020204" pitchFamily="34" charset="0"/>
                <a:cs typeface="Arial" panose="020B0604020202020204" pitchFamily="34" charset="0"/>
              </a:rPr>
              <a:t>: Gıda güvenliği ve tedarik zincirinde şeffaflık sağlayan bir teknoloji.</a:t>
            </a:r>
          </a:p>
          <a:p>
            <a:endParaRPr lang="tr-TR" dirty="0"/>
          </a:p>
        </p:txBody>
      </p:sp>
      <p:pic>
        <p:nvPicPr>
          <p:cNvPr id="9" name="Resim 8" descr="metin, ekran görüntüsü, gıda grubu, sebze içeren bir resim&#10;&#10;Açıklama otomatik olarak oluşturuldu">
            <a:extLst>
              <a:ext uri="{FF2B5EF4-FFF2-40B4-BE49-F238E27FC236}">
                <a16:creationId xmlns:a16="http://schemas.microsoft.com/office/drawing/2014/main" id="{F988EF05-15EC-A154-E135-56E9F2D639A2}"/>
              </a:ext>
            </a:extLst>
          </p:cNvPr>
          <p:cNvPicPr>
            <a:picLocks noChangeAspect="1"/>
          </p:cNvPicPr>
          <p:nvPr/>
        </p:nvPicPr>
        <p:blipFill>
          <a:blip r:embed="rId2">
            <a:extLst>
              <a:ext uri="{28A0092B-C50C-407E-A947-70E740481C1C}">
                <a14:useLocalDpi xmlns:a14="http://schemas.microsoft.com/office/drawing/2010/main" val="0"/>
              </a:ext>
            </a:extLst>
          </a:blip>
          <a:srcRect t="23021" r="3" b="5396"/>
          <a:stretch/>
        </p:blipFill>
        <p:spPr>
          <a:xfrm>
            <a:off x="677334" y="1971040"/>
            <a:ext cx="5423429" cy="4070653"/>
          </a:xfrm>
          <a:prstGeom prst="rect">
            <a:avLst/>
          </a:prstGeom>
        </p:spPr>
      </p:pic>
    </p:spTree>
    <p:extLst>
      <p:ext uri="{BB962C8B-B14F-4D97-AF65-F5344CB8AC3E}">
        <p14:creationId xmlns:p14="http://schemas.microsoft.com/office/powerpoint/2010/main" val="2361452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Resim 4" descr="gökyüzü, dış mekan, çim, bitki içeren bir resim&#10;&#10;Açıklama otomatik olarak oluşturuldu">
            <a:extLst>
              <a:ext uri="{FF2B5EF4-FFF2-40B4-BE49-F238E27FC236}">
                <a16:creationId xmlns:a16="http://schemas.microsoft.com/office/drawing/2014/main" id="{91196E6D-1FD1-4313-6276-538E90325BCF}"/>
              </a:ext>
            </a:extLst>
          </p:cNvPr>
          <p:cNvPicPr>
            <a:picLocks noChangeAspect="1"/>
          </p:cNvPicPr>
          <p:nvPr/>
        </p:nvPicPr>
        <p:blipFill>
          <a:blip r:embed="rId2">
            <a:extLst>
              <a:ext uri="{28A0092B-C50C-407E-A947-70E740481C1C}">
                <a14:useLocalDpi xmlns:a14="http://schemas.microsoft.com/office/drawing/2010/main" val="0"/>
              </a:ext>
            </a:extLst>
          </a:blip>
          <a:srcRect t="17264" r="-6" b="-6"/>
          <a:stretch/>
        </p:blipFill>
        <p:spPr>
          <a:xfrm>
            <a:off x="677334" y="609600"/>
            <a:ext cx="3144597" cy="2601747"/>
          </a:xfrm>
          <a:prstGeom prst="rect">
            <a:avLst/>
          </a:prstGeom>
        </p:spPr>
      </p:pic>
      <p:sp>
        <p:nvSpPr>
          <p:cNvPr id="9" name="Isosceles Triangle 8">
            <a:extLst>
              <a:ext uri="{FF2B5EF4-FFF2-40B4-BE49-F238E27FC236}">
                <a16:creationId xmlns:a16="http://schemas.microsoft.com/office/drawing/2014/main" id="{B5B9F7B6-0E4A-4A5F-BBBA-73496FAE5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5307B9F9-A0BF-AE33-6B3D-74B51E059B1B}"/>
              </a:ext>
            </a:extLst>
          </p:cNvPr>
          <p:cNvSpPr>
            <a:spLocks noGrp="1"/>
          </p:cNvSpPr>
          <p:nvPr>
            <p:ph idx="1"/>
          </p:nvPr>
        </p:nvSpPr>
        <p:spPr>
          <a:xfrm>
            <a:off x="4062395" y="2160589"/>
            <a:ext cx="5203526" cy="3262707"/>
          </a:xfrm>
        </p:spPr>
        <p:txBody>
          <a:bodyPr>
            <a:normAutofit/>
          </a:bodyPr>
          <a:lstStyle/>
          <a:p>
            <a:r>
              <a:rPr lang="tr-TR" sz="2400" b="1" dirty="0">
                <a:latin typeface="Arial" panose="020B0604020202020204" pitchFamily="34" charset="0"/>
                <a:cs typeface="Arial" panose="020B0604020202020204" pitchFamily="34" charset="0"/>
              </a:rPr>
              <a:t>Dijital Tarım</a:t>
            </a:r>
            <a:r>
              <a:rPr lang="tr-TR" sz="2400" dirty="0">
                <a:latin typeface="Arial" panose="020B0604020202020204" pitchFamily="34" charset="0"/>
                <a:cs typeface="Arial" panose="020B0604020202020204" pitchFamily="34" charset="0"/>
              </a:rPr>
              <a:t>: Tarımda sensörler ve dronlar kullanılarak toprağın, hava koşullarının ve bitkilerin durumu dijital olarak izlenebilir.</a:t>
            </a:r>
          </a:p>
          <a:p>
            <a:endParaRPr lang="tr-TR" dirty="0"/>
          </a:p>
        </p:txBody>
      </p:sp>
      <p:sp>
        <p:nvSpPr>
          <p:cNvPr id="10" name="Rectangle 13">
            <a:extLst>
              <a:ext uri="{FF2B5EF4-FFF2-40B4-BE49-F238E27FC236}">
                <a16:creationId xmlns:a16="http://schemas.microsoft.com/office/drawing/2014/main" id="{B51D13AF-6D7E-42A4-BF57-BFDF66E1FE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26230" y="5618029"/>
            <a:ext cx="618066" cy="228600"/>
          </a:xfrm>
          <a:prstGeom prst="rect">
            <a:avLst/>
          </a:prstGeom>
          <a:solidFill>
            <a:srgbClr val="EA2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Resim 6" descr="dış mekan, çim, bahçe, mahsul içeren bir resim&#10;&#10;Açıklama otomatik olarak oluşturuldu">
            <a:extLst>
              <a:ext uri="{FF2B5EF4-FFF2-40B4-BE49-F238E27FC236}">
                <a16:creationId xmlns:a16="http://schemas.microsoft.com/office/drawing/2014/main" id="{3B8B96E7-A757-2DDF-D326-E0391962F3CB}"/>
              </a:ext>
            </a:extLst>
          </p:cNvPr>
          <p:cNvPicPr>
            <a:picLocks noChangeAspect="1"/>
          </p:cNvPicPr>
          <p:nvPr/>
        </p:nvPicPr>
        <p:blipFill>
          <a:blip r:embed="rId3">
            <a:extLst>
              <a:ext uri="{28A0092B-C50C-407E-A947-70E740481C1C}">
                <a14:useLocalDpi xmlns:a14="http://schemas.microsoft.com/office/drawing/2010/main" val="0"/>
              </a:ext>
            </a:extLst>
          </a:blip>
          <a:srcRect t="15949" r="-6" b="1309"/>
          <a:stretch/>
        </p:blipFill>
        <p:spPr>
          <a:xfrm>
            <a:off x="677334" y="3439947"/>
            <a:ext cx="3144597" cy="2601746"/>
          </a:xfrm>
          <a:prstGeom prst="rect">
            <a:avLst/>
          </a:prstGeom>
        </p:spPr>
      </p:pic>
    </p:spTree>
    <p:extLst>
      <p:ext uri="{BB962C8B-B14F-4D97-AF65-F5344CB8AC3E}">
        <p14:creationId xmlns:p14="http://schemas.microsoft.com/office/powerpoint/2010/main" val="421942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0B74B9F-C813-4228-AAE4-13BF45649704}"/>
              </a:ext>
            </a:extLst>
          </p:cNvPr>
          <p:cNvSpPr>
            <a:spLocks noGrp="1"/>
          </p:cNvSpPr>
          <p:nvPr>
            <p:ph idx="1"/>
          </p:nvPr>
        </p:nvSpPr>
        <p:spPr>
          <a:xfrm>
            <a:off x="558801" y="526521"/>
            <a:ext cx="8822265" cy="4663546"/>
          </a:xfrm>
        </p:spPr>
        <p:txBody>
          <a:bodyPr>
            <a:normAutofit/>
          </a:bodyPr>
          <a:lstStyle/>
          <a:p>
            <a:r>
              <a:rPr lang="tr-TR" sz="3500" b="1" dirty="0">
                <a:latin typeface="Calibri" panose="020F0502020204030204" pitchFamily="34" charset="0"/>
                <a:ea typeface="Calibri" panose="020F0502020204030204" pitchFamily="34" charset="0"/>
                <a:cs typeface="Calibri" panose="020F0502020204030204" pitchFamily="34" charset="0"/>
              </a:rPr>
              <a:t>Teknolojik Uygulama Alanları</a:t>
            </a:r>
            <a:endParaRPr lang="tr-TR" sz="35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tr-TR" sz="1900" b="1" dirty="0">
                <a:latin typeface="Arial" panose="020B0604020202020204" pitchFamily="34" charset="0"/>
                <a:cs typeface="Arial" panose="020B0604020202020204" pitchFamily="34" charset="0"/>
              </a:rPr>
              <a:t>Üretim</a:t>
            </a:r>
            <a:r>
              <a:rPr lang="tr-TR" sz="1900" dirty="0">
                <a:latin typeface="Arial" panose="020B0604020202020204" pitchFamily="34" charset="0"/>
                <a:cs typeface="Arial" panose="020B0604020202020204" pitchFamily="34" charset="0"/>
              </a:rPr>
              <a:t>: Otomasyon ve robotik üretim hatları, daha verimli üretim süreçleri.</a:t>
            </a:r>
          </a:p>
          <a:p>
            <a:pPr marL="742950" lvl="1" indent="-285750">
              <a:buFont typeface="Arial" panose="020B0604020202020204" pitchFamily="34" charset="0"/>
              <a:buChar char="•"/>
            </a:pPr>
            <a:r>
              <a:rPr lang="tr-TR" sz="1900" b="1" dirty="0">
                <a:latin typeface="Arial" panose="020B0604020202020204" pitchFamily="34" charset="0"/>
                <a:cs typeface="Arial" panose="020B0604020202020204" pitchFamily="34" charset="0"/>
              </a:rPr>
              <a:t>Örnek</a:t>
            </a:r>
            <a:r>
              <a:rPr lang="tr-TR" sz="1900" dirty="0">
                <a:latin typeface="Arial" panose="020B0604020202020204" pitchFamily="34" charset="0"/>
                <a:cs typeface="Arial" panose="020B0604020202020204" pitchFamily="34" charset="0"/>
              </a:rPr>
              <a:t>: McDonald's, otomatik sipariş ve yemek hazırlama sistemleri.</a:t>
            </a:r>
          </a:p>
          <a:p>
            <a:pPr>
              <a:buFont typeface="Arial" panose="020B0604020202020204" pitchFamily="34" charset="0"/>
              <a:buChar char="•"/>
            </a:pPr>
            <a:r>
              <a:rPr lang="tr-TR" sz="1900" b="1" dirty="0">
                <a:latin typeface="Arial" panose="020B0604020202020204" pitchFamily="34" charset="0"/>
                <a:cs typeface="Arial" panose="020B0604020202020204" pitchFamily="34" charset="0"/>
              </a:rPr>
              <a:t>Lojistik ve Dağıtım</a:t>
            </a:r>
            <a:r>
              <a:rPr lang="tr-TR" sz="1900" dirty="0">
                <a:latin typeface="Arial" panose="020B0604020202020204" pitchFamily="34" charset="0"/>
                <a:cs typeface="Arial" panose="020B0604020202020204" pitchFamily="34" charset="0"/>
              </a:rPr>
              <a:t>: GPS ve </a:t>
            </a:r>
            <a:r>
              <a:rPr lang="tr-TR" sz="1900" dirty="0" err="1">
                <a:latin typeface="Arial" panose="020B0604020202020204" pitchFamily="34" charset="0"/>
                <a:cs typeface="Arial" panose="020B0604020202020204" pitchFamily="34" charset="0"/>
              </a:rPr>
              <a:t>IoT</a:t>
            </a:r>
            <a:r>
              <a:rPr lang="tr-TR" sz="1900" dirty="0">
                <a:latin typeface="Arial" panose="020B0604020202020204" pitchFamily="34" charset="0"/>
                <a:cs typeface="Arial" panose="020B0604020202020204" pitchFamily="34" charset="0"/>
              </a:rPr>
              <a:t> cihazlarıyla tedarik zincirini izleme, gıda taşımacılığında sıcaklık kontrolü sağlamak.</a:t>
            </a:r>
          </a:p>
          <a:p>
            <a:pPr>
              <a:buFont typeface="Arial" panose="020B0604020202020204" pitchFamily="34" charset="0"/>
              <a:buChar char="•"/>
            </a:pPr>
            <a:r>
              <a:rPr lang="tr-TR" sz="1900" b="1" dirty="0">
                <a:latin typeface="Arial" panose="020B0604020202020204" pitchFamily="34" charset="0"/>
                <a:cs typeface="Arial" panose="020B0604020202020204" pitchFamily="34" charset="0"/>
              </a:rPr>
              <a:t>Perakende ve E-ticaret</a:t>
            </a:r>
            <a:r>
              <a:rPr lang="tr-TR" sz="1900" dirty="0">
                <a:latin typeface="Arial" panose="020B0604020202020204" pitchFamily="34" charset="0"/>
                <a:cs typeface="Arial" panose="020B0604020202020204" pitchFamily="34" charset="0"/>
              </a:rPr>
              <a:t>: Online siparişler ve mobil uygulamalarla hızlı satış.</a:t>
            </a:r>
          </a:p>
          <a:p>
            <a:pPr marL="742950" lvl="1" indent="-285750">
              <a:buFont typeface="Arial" panose="020B0604020202020204" pitchFamily="34" charset="0"/>
              <a:buChar char="•"/>
            </a:pPr>
            <a:r>
              <a:rPr lang="tr-TR" sz="1900" b="1" dirty="0">
                <a:latin typeface="Arial" panose="020B0604020202020204" pitchFamily="34" charset="0"/>
                <a:cs typeface="Arial" panose="020B0604020202020204" pitchFamily="34" charset="0"/>
              </a:rPr>
              <a:t>Örnek</a:t>
            </a:r>
            <a:r>
              <a:rPr lang="tr-TR" sz="1900" dirty="0">
                <a:latin typeface="Arial" panose="020B0604020202020204" pitchFamily="34" charset="0"/>
                <a:cs typeface="Arial" panose="020B0604020202020204" pitchFamily="34" charset="0"/>
              </a:rPr>
              <a:t>: Amazon'un gıda tedarik zincirinde AI ve </a:t>
            </a:r>
            <a:r>
              <a:rPr lang="tr-TR" sz="1900" dirty="0" err="1">
                <a:latin typeface="Arial" panose="020B0604020202020204" pitchFamily="34" charset="0"/>
                <a:cs typeface="Arial" panose="020B0604020202020204" pitchFamily="34" charset="0"/>
              </a:rPr>
              <a:t>IoT</a:t>
            </a:r>
            <a:r>
              <a:rPr lang="tr-TR" sz="1900" dirty="0">
                <a:latin typeface="Arial" panose="020B0604020202020204" pitchFamily="34" charset="0"/>
                <a:cs typeface="Arial" panose="020B0604020202020204" pitchFamily="34" charset="0"/>
              </a:rPr>
              <a:t> kullanımı.</a:t>
            </a:r>
          </a:p>
          <a:p>
            <a:pPr>
              <a:buFont typeface="Arial" panose="020B0604020202020204" pitchFamily="34" charset="0"/>
              <a:buChar char="•"/>
            </a:pPr>
            <a:r>
              <a:rPr lang="tr-TR" sz="1900" b="1" dirty="0">
                <a:latin typeface="Arial" panose="020B0604020202020204" pitchFamily="34" charset="0"/>
                <a:cs typeface="Arial" panose="020B0604020202020204" pitchFamily="34" charset="0"/>
              </a:rPr>
              <a:t>Gıda Güvenliği</a:t>
            </a:r>
            <a:r>
              <a:rPr lang="tr-TR" sz="1900" dirty="0">
                <a:latin typeface="Arial" panose="020B0604020202020204" pitchFamily="34" charset="0"/>
                <a:cs typeface="Arial" panose="020B0604020202020204" pitchFamily="34" charset="0"/>
              </a:rPr>
              <a:t>: </a:t>
            </a:r>
            <a:r>
              <a:rPr lang="tr-TR" sz="1900" dirty="0" err="1">
                <a:latin typeface="Arial" panose="020B0604020202020204" pitchFamily="34" charset="0"/>
                <a:cs typeface="Arial" panose="020B0604020202020204" pitchFamily="34" charset="0"/>
              </a:rPr>
              <a:t>Blockchain</a:t>
            </a:r>
            <a:r>
              <a:rPr lang="tr-TR" sz="1900" dirty="0">
                <a:latin typeface="Arial" panose="020B0604020202020204" pitchFamily="34" charset="0"/>
                <a:cs typeface="Arial" panose="020B0604020202020204" pitchFamily="34" charset="0"/>
              </a:rPr>
              <a:t> ile gıda tedarik zincirinde izlenebilirlik.</a:t>
            </a:r>
          </a:p>
          <a:p>
            <a:pPr marL="742950" lvl="1" indent="-285750">
              <a:buFont typeface="Arial" panose="020B0604020202020204" pitchFamily="34" charset="0"/>
              <a:buChar char="•"/>
            </a:pPr>
            <a:r>
              <a:rPr lang="tr-TR" sz="1900" b="1" dirty="0">
                <a:latin typeface="Arial" panose="020B0604020202020204" pitchFamily="34" charset="0"/>
                <a:cs typeface="Arial" panose="020B0604020202020204" pitchFamily="34" charset="0"/>
              </a:rPr>
              <a:t>Örnek</a:t>
            </a:r>
            <a:r>
              <a:rPr lang="tr-TR" sz="1900" dirty="0">
                <a:latin typeface="Arial" panose="020B0604020202020204" pitchFamily="34" charset="0"/>
                <a:cs typeface="Arial" panose="020B0604020202020204" pitchFamily="34" charset="0"/>
              </a:rPr>
              <a:t>: Walmart, tedarik zinciri üzerindeki her aşamayı </a:t>
            </a:r>
            <a:r>
              <a:rPr lang="tr-TR" sz="1900" dirty="0" err="1">
                <a:latin typeface="Arial" panose="020B0604020202020204" pitchFamily="34" charset="0"/>
                <a:cs typeface="Arial" panose="020B0604020202020204" pitchFamily="34" charset="0"/>
              </a:rPr>
              <a:t>blockchain</a:t>
            </a:r>
            <a:r>
              <a:rPr lang="tr-TR" sz="1900" dirty="0">
                <a:latin typeface="Arial" panose="020B0604020202020204" pitchFamily="34" charset="0"/>
                <a:cs typeface="Arial" panose="020B0604020202020204" pitchFamily="34" charset="0"/>
              </a:rPr>
              <a:t> teknolojisiyle izliyor.</a:t>
            </a:r>
          </a:p>
          <a:p>
            <a:endParaRPr lang="tr-TR" dirty="0"/>
          </a:p>
        </p:txBody>
      </p:sp>
    </p:spTree>
    <p:extLst>
      <p:ext uri="{BB962C8B-B14F-4D97-AF65-F5344CB8AC3E}">
        <p14:creationId xmlns:p14="http://schemas.microsoft.com/office/powerpoint/2010/main" val="1134090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03DF170-C303-FEAF-5E2D-716C4D425097}"/>
              </a:ext>
            </a:extLst>
          </p:cNvPr>
          <p:cNvSpPr>
            <a:spLocks noGrp="1"/>
          </p:cNvSpPr>
          <p:nvPr>
            <p:ph idx="1"/>
          </p:nvPr>
        </p:nvSpPr>
        <p:spPr>
          <a:xfrm>
            <a:off x="270933" y="496358"/>
            <a:ext cx="10515600" cy="4351338"/>
          </a:xfrm>
        </p:spPr>
        <p:txBody>
          <a:bodyPr>
            <a:normAutofit/>
          </a:bodyPr>
          <a:lstStyle/>
          <a:p>
            <a:r>
              <a:rPr lang="tr-TR" sz="3200" b="1" dirty="0">
                <a:latin typeface="Calibri" panose="020F0502020204030204" pitchFamily="34" charset="0"/>
                <a:ea typeface="Calibri" panose="020F0502020204030204" pitchFamily="34" charset="0"/>
                <a:cs typeface="Calibri" panose="020F0502020204030204" pitchFamily="34" charset="0"/>
              </a:rPr>
              <a:t>Dünyada Gıda Sektöründe Bilişim Teknolojileri </a:t>
            </a:r>
          </a:p>
          <a:p>
            <a:pPr marL="0" indent="0">
              <a:buNone/>
            </a:pPr>
            <a:r>
              <a:rPr lang="tr-TR" b="1" dirty="0"/>
              <a:t> </a:t>
            </a:r>
            <a:endParaRPr lang="tr-TR" dirty="0"/>
          </a:p>
        </p:txBody>
      </p:sp>
      <p:sp>
        <p:nvSpPr>
          <p:cNvPr id="4" name="Rectangle 1">
            <a:extLst>
              <a:ext uri="{FF2B5EF4-FFF2-40B4-BE49-F238E27FC236}">
                <a16:creationId xmlns:a16="http://schemas.microsoft.com/office/drawing/2014/main" id="{D89392E1-6D0B-2D5A-9FE9-984255D9DD72}"/>
              </a:ext>
            </a:extLst>
          </p:cNvPr>
          <p:cNvSpPr>
            <a:spLocks noChangeArrowheads="1"/>
          </p:cNvSpPr>
          <p:nvPr/>
        </p:nvSpPr>
        <p:spPr bwMode="auto">
          <a:xfrm>
            <a:off x="924560" y="1749277"/>
            <a:ext cx="685364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Yapay Zeka ve Makine Öğrenimi</a:t>
            </a:r>
            <a:r>
              <a:rPr kumimoji="0" lang="tr-TR" altLang="tr-TR" sz="2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Restoranlar ve gıda üreticileri, AI ile üretim verimliliğini artırıyor, müşterilerin beslenme tercihleri hakkında tahminler yapılıyor.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Gıda Güvenliği ve </a:t>
            </a:r>
            <a:r>
              <a:rPr kumimoji="0" lang="tr-TR" altLang="tr-TR" sz="2400" b="1"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Blockchain</a:t>
            </a:r>
            <a:r>
              <a:rPr kumimoji="0" lang="tr-TR" altLang="tr-TR" sz="2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IBM ve Walmart gibi büyük firmalar, </a:t>
            </a:r>
            <a:r>
              <a:rPr kumimoji="0" lang="tr-TR" altLang="tr-TR" sz="24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blockchain</a:t>
            </a:r>
            <a:r>
              <a:rPr kumimoji="0" lang="tr-TR" altLang="tr-TR" sz="2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ile gıda tedarik zincirini daha şeffaf hale getiriyor.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Veri Analitiği ve Büyük Veri</a:t>
            </a:r>
            <a:r>
              <a:rPr kumimoji="0" lang="tr-TR" altLang="tr-TR" sz="2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Tüketici tercihlerini anlamak ve tedarik zinciri süreçlerini optimize etmek için büyük veri kullanılması.</a:t>
            </a:r>
          </a:p>
        </p:txBody>
      </p:sp>
    </p:spTree>
    <p:extLst>
      <p:ext uri="{BB962C8B-B14F-4D97-AF65-F5344CB8AC3E}">
        <p14:creationId xmlns:p14="http://schemas.microsoft.com/office/powerpoint/2010/main" val="1049514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Isosceles Triangle 8">
            <a:extLst>
              <a:ext uri="{FF2B5EF4-FFF2-40B4-BE49-F238E27FC236}">
                <a16:creationId xmlns:a16="http://schemas.microsoft.com/office/drawing/2014/main" id="{98EE4960-6ED7-49B4-BEEE-A96A0C83D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7" name="Resim 6" descr="yemek, gıda, unlu mamuller, çerez, atıştırmalık, iç mekan içeren bir resim&#10;&#10;Açıklama otomatik olarak oluşturuldu">
            <a:extLst>
              <a:ext uri="{FF2B5EF4-FFF2-40B4-BE49-F238E27FC236}">
                <a16:creationId xmlns:a16="http://schemas.microsoft.com/office/drawing/2014/main" id="{0EB3295F-0581-99E6-F0E9-FFF8E4203768}"/>
              </a:ext>
            </a:extLst>
          </p:cNvPr>
          <p:cNvPicPr>
            <a:picLocks noChangeAspect="1"/>
          </p:cNvPicPr>
          <p:nvPr/>
        </p:nvPicPr>
        <p:blipFill>
          <a:blip r:embed="rId2">
            <a:extLst>
              <a:ext uri="{28A0092B-C50C-407E-A947-70E740481C1C}">
                <a14:useLocalDpi xmlns:a14="http://schemas.microsoft.com/office/drawing/2010/main" val="0"/>
              </a:ext>
            </a:extLst>
          </a:blip>
          <a:srcRect l="22387" r="9992" b="1"/>
          <a:stretch/>
        </p:blipFill>
        <p:spPr>
          <a:xfrm>
            <a:off x="476655" y="1683939"/>
            <a:ext cx="2625335" cy="3882362"/>
          </a:xfrm>
          <a:prstGeom prst="rect">
            <a:avLst/>
          </a:prstGeom>
        </p:spPr>
      </p:pic>
      <p:pic>
        <p:nvPicPr>
          <p:cNvPr id="5" name="İçerik Yer Tutucusu 4" descr="iç mekan içeren bir resim&#10;&#10;Açıklama otomatik olarak oluşturuldu">
            <a:extLst>
              <a:ext uri="{FF2B5EF4-FFF2-40B4-BE49-F238E27FC236}">
                <a16:creationId xmlns:a16="http://schemas.microsoft.com/office/drawing/2014/main" id="{3F3CAF80-1A27-BB68-60F3-19FD7C4102A0}"/>
              </a:ext>
            </a:extLst>
          </p:cNvPr>
          <p:cNvPicPr>
            <a:picLocks noChangeAspect="1"/>
          </p:cNvPicPr>
          <p:nvPr/>
        </p:nvPicPr>
        <p:blipFill>
          <a:blip r:embed="rId3">
            <a:extLst>
              <a:ext uri="{28A0092B-C50C-407E-A947-70E740481C1C}">
                <a14:useLocalDpi xmlns:a14="http://schemas.microsoft.com/office/drawing/2010/main" val="0"/>
              </a:ext>
            </a:extLst>
          </a:blip>
          <a:srcRect l="11574" r="20804" b="1"/>
          <a:stretch/>
        </p:blipFill>
        <p:spPr>
          <a:xfrm>
            <a:off x="3578645" y="1683939"/>
            <a:ext cx="2625335" cy="3882362"/>
          </a:xfrm>
          <a:prstGeom prst="rect">
            <a:avLst/>
          </a:prstGeom>
        </p:spPr>
      </p:pic>
      <p:sp>
        <p:nvSpPr>
          <p:cNvPr id="11" name="Content Placeholder 10">
            <a:extLst>
              <a:ext uri="{FF2B5EF4-FFF2-40B4-BE49-F238E27FC236}">
                <a16:creationId xmlns:a16="http://schemas.microsoft.com/office/drawing/2014/main" id="{0B06C6D0-8BC2-0FFD-2847-207D014C110E}"/>
              </a:ext>
            </a:extLst>
          </p:cNvPr>
          <p:cNvSpPr>
            <a:spLocks noGrp="1"/>
          </p:cNvSpPr>
          <p:nvPr>
            <p:ph idx="1"/>
          </p:nvPr>
        </p:nvSpPr>
        <p:spPr>
          <a:xfrm>
            <a:off x="6325880" y="2160589"/>
            <a:ext cx="2948121" cy="3880773"/>
          </a:xfrm>
        </p:spPr>
        <p:txBody>
          <a:bodyPr>
            <a:normAutofit/>
          </a:bodyPr>
          <a:lstStyle/>
          <a:p>
            <a:r>
              <a:rPr kumimoji="0" lang="tr-TR" altLang="tr-TR" sz="24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Otomasyon ve Robot Teknolojileri</a:t>
            </a:r>
            <a:r>
              <a:rPr kumimoji="0" lang="tr-TR" altLang="tr-TR" sz="2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Gıda üretiminde robotların kullanımı ve depolama süreçleri otomatik hale getiriliyor.</a:t>
            </a:r>
          </a:p>
          <a:p>
            <a:endParaRPr lang="en-US" dirty="0"/>
          </a:p>
        </p:txBody>
      </p:sp>
    </p:spTree>
    <p:extLst>
      <p:ext uri="{BB962C8B-B14F-4D97-AF65-F5344CB8AC3E}">
        <p14:creationId xmlns:p14="http://schemas.microsoft.com/office/powerpoint/2010/main" val="2267516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F58AE23-8992-9980-8BA7-E7311F9E2D79}"/>
              </a:ext>
            </a:extLst>
          </p:cNvPr>
          <p:cNvSpPr>
            <a:spLocks noGrp="1"/>
          </p:cNvSpPr>
          <p:nvPr>
            <p:ph idx="1"/>
          </p:nvPr>
        </p:nvSpPr>
        <p:spPr>
          <a:xfrm>
            <a:off x="118534" y="407989"/>
            <a:ext cx="8596668" cy="3880773"/>
          </a:xfrm>
        </p:spPr>
        <p:txBody>
          <a:bodyPr>
            <a:normAutofit/>
          </a:bodyPr>
          <a:lstStyle/>
          <a:p>
            <a:pPr marL="0" indent="0">
              <a:buNone/>
            </a:pPr>
            <a:r>
              <a:rPr lang="tr-TR" sz="2800" b="1" dirty="0"/>
              <a:t> </a:t>
            </a:r>
            <a:r>
              <a:rPr lang="tr-TR" sz="3200" b="1" dirty="0">
                <a:latin typeface="Calibri" panose="020F0502020204030204" pitchFamily="34" charset="0"/>
                <a:ea typeface="Calibri" panose="020F0502020204030204" pitchFamily="34" charset="0"/>
                <a:cs typeface="Calibri" panose="020F0502020204030204" pitchFamily="34" charset="0"/>
              </a:rPr>
              <a:t>Başarılı Global Örnekler</a:t>
            </a:r>
            <a:endParaRPr lang="tr-TR" sz="32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tr-TR" b="1" dirty="0">
                <a:latin typeface="Arial" panose="020B0604020202020204" pitchFamily="34" charset="0"/>
                <a:cs typeface="Arial" panose="020B0604020202020204" pitchFamily="34" charset="0"/>
              </a:rPr>
              <a:t>Amazon </a:t>
            </a:r>
            <a:r>
              <a:rPr lang="tr-TR" b="1" dirty="0" err="1">
                <a:latin typeface="Arial" panose="020B0604020202020204" pitchFamily="34" charset="0"/>
                <a:cs typeface="Arial" panose="020B0604020202020204" pitchFamily="34" charset="0"/>
              </a:rPr>
              <a:t>Go</a:t>
            </a:r>
            <a:r>
              <a:rPr lang="tr-TR" dirty="0">
                <a:latin typeface="Arial" panose="020B0604020202020204" pitchFamily="34" charset="0"/>
                <a:cs typeface="Arial" panose="020B0604020202020204" pitchFamily="34" charset="0"/>
              </a:rPr>
              <a:t>: Kasa teknolojisini ortadan kaldıran "</a:t>
            </a:r>
            <a:r>
              <a:rPr lang="tr-TR" dirty="0" err="1">
                <a:latin typeface="Arial" panose="020B0604020202020204" pitchFamily="34" charset="0"/>
                <a:cs typeface="Arial" panose="020B0604020202020204" pitchFamily="34" charset="0"/>
              </a:rPr>
              <a:t>cashier-less</a:t>
            </a:r>
            <a:r>
              <a:rPr lang="tr-TR" dirty="0">
                <a:latin typeface="Arial" panose="020B0604020202020204" pitchFamily="34" charset="0"/>
                <a:cs typeface="Arial" panose="020B0604020202020204" pitchFamily="34" charset="0"/>
              </a:rPr>
              <a:t>" mağazalar, yüz tanıma ve sensörlerle alışveriş.</a:t>
            </a:r>
          </a:p>
          <a:p>
            <a:pPr>
              <a:buFont typeface="Arial" panose="020B0604020202020204" pitchFamily="34" charset="0"/>
              <a:buChar char="•"/>
            </a:pPr>
            <a:r>
              <a:rPr lang="tr-TR" b="1" dirty="0" err="1">
                <a:latin typeface="Arial" panose="020B0604020202020204" pitchFamily="34" charset="0"/>
                <a:cs typeface="Arial" panose="020B0604020202020204" pitchFamily="34" charset="0"/>
              </a:rPr>
              <a:t>Nestlé</a:t>
            </a:r>
            <a:r>
              <a:rPr lang="tr-TR" dirty="0">
                <a:latin typeface="Arial" panose="020B0604020202020204" pitchFamily="34" charset="0"/>
                <a:cs typeface="Arial" panose="020B0604020202020204" pitchFamily="34" charset="0"/>
              </a:rPr>
              <a:t>: </a:t>
            </a:r>
            <a:r>
              <a:rPr lang="tr-TR" dirty="0" err="1">
                <a:latin typeface="Arial" panose="020B0604020202020204" pitchFamily="34" charset="0"/>
                <a:cs typeface="Arial" panose="020B0604020202020204" pitchFamily="34" charset="0"/>
              </a:rPr>
              <a:t>Nestlé</a:t>
            </a:r>
            <a:r>
              <a:rPr lang="tr-TR" dirty="0">
                <a:latin typeface="Arial" panose="020B0604020202020204" pitchFamily="34" charset="0"/>
                <a:cs typeface="Arial" panose="020B0604020202020204" pitchFamily="34" charset="0"/>
              </a:rPr>
              <a:t>, </a:t>
            </a:r>
            <a:r>
              <a:rPr lang="tr-TR" dirty="0" err="1">
                <a:latin typeface="Arial" panose="020B0604020202020204" pitchFamily="34" charset="0"/>
                <a:cs typeface="Arial" panose="020B0604020202020204" pitchFamily="34" charset="0"/>
              </a:rPr>
              <a:t>IoT</a:t>
            </a:r>
            <a:r>
              <a:rPr lang="tr-TR" dirty="0">
                <a:latin typeface="Arial" panose="020B0604020202020204" pitchFamily="34" charset="0"/>
                <a:cs typeface="Arial" panose="020B0604020202020204" pitchFamily="34" charset="0"/>
              </a:rPr>
              <a:t> cihazları kullanarak üretim hatlarındaki verimliliği artırıyor.</a:t>
            </a:r>
          </a:p>
          <a:p>
            <a:pPr>
              <a:buFont typeface="Arial" panose="020B0604020202020204" pitchFamily="34" charset="0"/>
              <a:buChar char="•"/>
            </a:pPr>
            <a:r>
              <a:rPr lang="tr-TR" b="1" dirty="0" err="1">
                <a:latin typeface="Arial" panose="020B0604020202020204" pitchFamily="34" charset="0"/>
                <a:cs typeface="Arial" panose="020B0604020202020204" pitchFamily="34" charset="0"/>
              </a:rPr>
              <a:t>Blockchain</a:t>
            </a:r>
            <a:r>
              <a:rPr lang="tr-TR" b="1" dirty="0">
                <a:latin typeface="Arial" panose="020B0604020202020204" pitchFamily="34" charset="0"/>
                <a:cs typeface="Arial" panose="020B0604020202020204" pitchFamily="34" charset="0"/>
              </a:rPr>
              <a:t> ve Gıda Güvenliği</a:t>
            </a:r>
            <a:r>
              <a:rPr lang="tr-TR" dirty="0">
                <a:latin typeface="Arial" panose="020B0604020202020204" pitchFamily="34" charset="0"/>
                <a:cs typeface="Arial" panose="020B0604020202020204" pitchFamily="34" charset="0"/>
              </a:rPr>
              <a:t>: </a:t>
            </a:r>
            <a:r>
              <a:rPr lang="tr-TR" dirty="0" err="1">
                <a:latin typeface="Arial" panose="020B0604020202020204" pitchFamily="34" charset="0"/>
                <a:cs typeface="Arial" panose="020B0604020202020204" pitchFamily="34" charset="0"/>
              </a:rPr>
              <a:t>Blockchain</a:t>
            </a:r>
            <a:r>
              <a:rPr lang="tr-TR" dirty="0">
                <a:latin typeface="Arial" panose="020B0604020202020204" pitchFamily="34" charset="0"/>
                <a:cs typeface="Arial" panose="020B0604020202020204" pitchFamily="34" charset="0"/>
              </a:rPr>
              <a:t> kullanılarak, gıda ürünlerinin kaynağını ve tedarik zincirini şeffaf hale getiren Walmart.</a:t>
            </a:r>
          </a:p>
          <a:p>
            <a:pPr marL="742950" lvl="1" indent="-285750">
              <a:buFont typeface="Arial" panose="020B0604020202020204" pitchFamily="34" charset="0"/>
              <a:buChar char="•"/>
            </a:pPr>
            <a:r>
              <a:rPr lang="tr-TR" sz="1800" b="1" dirty="0">
                <a:latin typeface="Arial" panose="020B0604020202020204" pitchFamily="34" charset="0"/>
                <a:cs typeface="Arial" panose="020B0604020202020204" pitchFamily="34" charset="0"/>
              </a:rPr>
              <a:t>Örnek</a:t>
            </a:r>
            <a:r>
              <a:rPr lang="tr-TR" sz="1800" dirty="0">
                <a:latin typeface="Arial" panose="020B0604020202020204" pitchFamily="34" charset="0"/>
                <a:cs typeface="Arial" panose="020B0604020202020204" pitchFamily="34" charset="0"/>
              </a:rPr>
              <a:t>: Çin'deki bir tavuk çiftliği, </a:t>
            </a:r>
            <a:r>
              <a:rPr lang="tr-TR" sz="1800" dirty="0" err="1">
                <a:latin typeface="Arial" panose="020B0604020202020204" pitchFamily="34" charset="0"/>
                <a:cs typeface="Arial" panose="020B0604020202020204" pitchFamily="34" charset="0"/>
              </a:rPr>
              <a:t>blockchain</a:t>
            </a:r>
            <a:r>
              <a:rPr lang="tr-TR" sz="1800" dirty="0">
                <a:latin typeface="Arial" panose="020B0604020202020204" pitchFamily="34" charset="0"/>
                <a:cs typeface="Arial" panose="020B0604020202020204" pitchFamily="34" charset="0"/>
              </a:rPr>
              <a:t> ile tedarik zincirini izleyerek ürünlerin güvenliğini sağlıyor.</a:t>
            </a:r>
          </a:p>
          <a:p>
            <a:endParaRPr lang="tr-TR" dirty="0"/>
          </a:p>
        </p:txBody>
      </p:sp>
      <p:pic>
        <p:nvPicPr>
          <p:cNvPr id="5" name="Resim 4" descr="metin, iç mekan, çabuk yemek lokantası, tavan içeren bir resim&#10;&#10;Açıklama otomatik olarak oluşturuldu">
            <a:extLst>
              <a:ext uri="{FF2B5EF4-FFF2-40B4-BE49-F238E27FC236}">
                <a16:creationId xmlns:a16="http://schemas.microsoft.com/office/drawing/2014/main" id="{3ADDFA03-C421-9D2C-3195-18FEE6B2AB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2840" y="3591560"/>
            <a:ext cx="3066627" cy="3066627"/>
          </a:xfrm>
          <a:prstGeom prst="rect">
            <a:avLst/>
          </a:prstGeom>
        </p:spPr>
      </p:pic>
      <p:sp>
        <p:nvSpPr>
          <p:cNvPr id="6" name="Metin kutusu 5">
            <a:extLst>
              <a:ext uri="{FF2B5EF4-FFF2-40B4-BE49-F238E27FC236}">
                <a16:creationId xmlns:a16="http://schemas.microsoft.com/office/drawing/2014/main" id="{421E423F-1C5F-A391-85B5-9E361798FB75}"/>
              </a:ext>
            </a:extLst>
          </p:cNvPr>
          <p:cNvSpPr txBox="1"/>
          <p:nvPr/>
        </p:nvSpPr>
        <p:spPr>
          <a:xfrm>
            <a:off x="5425440" y="4356495"/>
            <a:ext cx="2357120" cy="1200329"/>
          </a:xfrm>
          <a:prstGeom prst="rect">
            <a:avLst/>
          </a:prstGeom>
          <a:noFill/>
        </p:spPr>
        <p:txBody>
          <a:bodyPr wrap="square" rtlCol="0">
            <a:spAutoFit/>
          </a:bodyPr>
          <a:lstStyle/>
          <a:p>
            <a:pPr>
              <a:buFont typeface="Arial" panose="020B0604020202020204" pitchFamily="34" charset="0"/>
              <a:buChar char="•"/>
            </a:pPr>
            <a:r>
              <a:rPr lang="tr-TR" b="1" dirty="0">
                <a:latin typeface="Arial" panose="020B0604020202020204" pitchFamily="34" charset="0"/>
                <a:cs typeface="Arial" panose="020B0604020202020204" pitchFamily="34" charset="0"/>
              </a:rPr>
              <a:t>McDonald's</a:t>
            </a:r>
            <a:r>
              <a:rPr lang="tr-TR" dirty="0">
                <a:latin typeface="Arial" panose="020B0604020202020204" pitchFamily="34" charset="0"/>
                <a:cs typeface="Arial" panose="020B0604020202020204" pitchFamily="34" charset="0"/>
              </a:rPr>
              <a:t>: Restoran içi robotlar ve otomatik sipariş sistemleri.</a:t>
            </a:r>
          </a:p>
        </p:txBody>
      </p:sp>
      <p:cxnSp>
        <p:nvCxnSpPr>
          <p:cNvPr id="8" name="Düz Ok Bağlayıcısı 7">
            <a:extLst>
              <a:ext uri="{FF2B5EF4-FFF2-40B4-BE49-F238E27FC236}">
                <a16:creationId xmlns:a16="http://schemas.microsoft.com/office/drawing/2014/main" id="{6D305198-D357-F034-D58A-C5101A381F6D}"/>
              </a:ext>
            </a:extLst>
          </p:cNvPr>
          <p:cNvCxnSpPr/>
          <p:nvPr/>
        </p:nvCxnSpPr>
        <p:spPr>
          <a:xfrm>
            <a:off x="4535401" y="5029200"/>
            <a:ext cx="71393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814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2CB689-03A6-F762-A314-5AE69A775FA4}"/>
              </a:ext>
            </a:extLst>
          </p:cNvPr>
          <p:cNvSpPr>
            <a:spLocks noGrp="1"/>
          </p:cNvSpPr>
          <p:nvPr>
            <p:ph type="title"/>
          </p:nvPr>
        </p:nvSpPr>
        <p:spPr/>
        <p:txBody>
          <a:bodyPr>
            <a:normAutofit/>
          </a:bodyPr>
          <a:lstStyle/>
          <a:p>
            <a:r>
              <a:rPr lang="tr-TR" sz="3100" b="1" dirty="0">
                <a:latin typeface="Calibri" panose="020F0502020204030204" pitchFamily="34" charset="0"/>
                <a:ea typeface="Calibri" panose="020F0502020204030204" pitchFamily="34" charset="0"/>
                <a:cs typeface="Calibri" panose="020F0502020204030204" pitchFamily="34" charset="0"/>
              </a:rPr>
              <a:t>Türkiye’de Gıda Sektöründe Bilişim Teknolojileri </a:t>
            </a:r>
            <a:br>
              <a:rPr lang="tr-TR" sz="4400" b="1" dirty="0"/>
            </a:br>
            <a:endParaRPr lang="tr-TR" dirty="0"/>
          </a:p>
        </p:txBody>
      </p:sp>
      <p:sp>
        <p:nvSpPr>
          <p:cNvPr id="3" name="İçerik Yer Tutucusu 2">
            <a:extLst>
              <a:ext uri="{FF2B5EF4-FFF2-40B4-BE49-F238E27FC236}">
                <a16:creationId xmlns:a16="http://schemas.microsoft.com/office/drawing/2014/main" id="{255FFCC0-5514-E708-32DF-19658F2BD0BC}"/>
              </a:ext>
            </a:extLst>
          </p:cNvPr>
          <p:cNvSpPr>
            <a:spLocks noGrp="1"/>
          </p:cNvSpPr>
          <p:nvPr>
            <p:ph idx="1"/>
          </p:nvPr>
        </p:nvSpPr>
        <p:spPr>
          <a:xfrm>
            <a:off x="587688" y="1394883"/>
            <a:ext cx="7455646" cy="4068233"/>
          </a:xfrm>
        </p:spPr>
        <p:txBody>
          <a:bodyPr>
            <a:normAutofit/>
          </a:bodyPr>
          <a:lstStyle/>
          <a:p>
            <a:pPr>
              <a:buFont typeface="Arial" panose="020B0604020202020204" pitchFamily="34" charset="0"/>
              <a:buChar char="•"/>
            </a:pPr>
            <a:r>
              <a:rPr lang="tr-TR" sz="2600" b="1" dirty="0">
                <a:latin typeface="Calibri" panose="020F0502020204030204" pitchFamily="34" charset="0"/>
                <a:ea typeface="Calibri" panose="020F0502020204030204" pitchFamily="34" charset="0"/>
                <a:cs typeface="Calibri" panose="020F0502020204030204" pitchFamily="34" charset="0"/>
              </a:rPr>
              <a:t>Türkiye'deki Gelişmeler</a:t>
            </a:r>
            <a:r>
              <a:rPr lang="tr-TR" sz="26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Arial" panose="020B0604020202020204" pitchFamily="34" charset="0"/>
              <a:buChar char="•"/>
            </a:pPr>
            <a:r>
              <a:rPr lang="tr-TR" sz="1900" b="1" dirty="0">
                <a:latin typeface="Arial" panose="020B0604020202020204" pitchFamily="34" charset="0"/>
                <a:cs typeface="Arial" panose="020B0604020202020204" pitchFamily="34" charset="0"/>
              </a:rPr>
              <a:t>Tarımda Teknoloji Kullanımı</a:t>
            </a:r>
            <a:r>
              <a:rPr lang="tr-TR" sz="1900" dirty="0">
                <a:latin typeface="Arial" panose="020B0604020202020204" pitchFamily="34" charset="0"/>
                <a:cs typeface="Arial" panose="020B0604020202020204" pitchFamily="34" charset="0"/>
              </a:rPr>
              <a:t>: Türkiye’deki çiftçiler, </a:t>
            </a:r>
            <a:r>
              <a:rPr lang="tr-TR" sz="1900" dirty="0" err="1">
                <a:latin typeface="Arial" panose="020B0604020202020204" pitchFamily="34" charset="0"/>
                <a:cs typeface="Arial" panose="020B0604020202020204" pitchFamily="34" charset="0"/>
              </a:rPr>
              <a:t>IoT</a:t>
            </a:r>
            <a:r>
              <a:rPr lang="tr-TR" sz="1900" dirty="0">
                <a:latin typeface="Arial" panose="020B0604020202020204" pitchFamily="34" charset="0"/>
                <a:cs typeface="Arial" panose="020B0604020202020204" pitchFamily="34" charset="0"/>
              </a:rPr>
              <a:t> cihazlarıyla ürünlerinin durumunu izliyor. Tarımda kullanılan akıllı sulama sistemleri, </a:t>
            </a:r>
            <a:r>
              <a:rPr lang="tr-TR" sz="1900" dirty="0" err="1">
                <a:latin typeface="Arial" panose="020B0604020202020204" pitchFamily="34" charset="0"/>
                <a:cs typeface="Arial" panose="020B0604020202020204" pitchFamily="34" charset="0"/>
              </a:rPr>
              <a:t>drone</a:t>
            </a:r>
            <a:r>
              <a:rPr lang="tr-TR" sz="1900" dirty="0">
                <a:latin typeface="Arial" panose="020B0604020202020204" pitchFamily="34" charset="0"/>
                <a:cs typeface="Arial" panose="020B0604020202020204" pitchFamily="34" charset="0"/>
              </a:rPr>
              <a:t> ile izleme ve veri analitiği gibi teknolojiler giderek yaygınlaşmaktadır.</a:t>
            </a:r>
            <a:endParaRPr lang="tr-TR" sz="1900" b="1"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tr-TR" sz="1900" b="1" dirty="0">
                <a:latin typeface="Arial" panose="020B0604020202020204" pitchFamily="34" charset="0"/>
                <a:cs typeface="Arial" panose="020B0604020202020204" pitchFamily="34" charset="0"/>
              </a:rPr>
              <a:t>Perakende ve Dijitalleşme</a:t>
            </a:r>
            <a:r>
              <a:rPr lang="tr-TR" sz="1900" dirty="0">
                <a:latin typeface="Arial" panose="020B0604020202020204" pitchFamily="34" charset="0"/>
                <a:cs typeface="Arial" panose="020B0604020202020204" pitchFamily="34" charset="0"/>
              </a:rPr>
              <a:t>: Migros ve CarrefourSA gibi büyük zincirler, online satış platformları ve mobil uygulamalar ile müşteri deneyimini dijitalleştiriyor.</a:t>
            </a:r>
          </a:p>
          <a:p>
            <a:pPr>
              <a:buFont typeface="Arial" panose="020B0604020202020204" pitchFamily="34" charset="0"/>
              <a:buChar char="•"/>
            </a:pPr>
            <a:r>
              <a:rPr lang="tr-TR" sz="1900" b="1" dirty="0">
                <a:latin typeface="Arial" panose="020B0604020202020204" pitchFamily="34" charset="0"/>
                <a:cs typeface="Arial" panose="020B0604020202020204" pitchFamily="34" charset="0"/>
              </a:rPr>
              <a:t>Türkiye’de </a:t>
            </a:r>
            <a:r>
              <a:rPr lang="tr-TR" sz="1900" b="1" dirty="0" err="1">
                <a:latin typeface="Arial" panose="020B0604020202020204" pitchFamily="34" charset="0"/>
                <a:cs typeface="Arial" panose="020B0604020202020204" pitchFamily="34" charset="0"/>
              </a:rPr>
              <a:t>Blockchain</a:t>
            </a:r>
            <a:r>
              <a:rPr lang="tr-TR" sz="1900" b="1" dirty="0">
                <a:latin typeface="Arial" panose="020B0604020202020204" pitchFamily="34" charset="0"/>
                <a:cs typeface="Arial" panose="020B0604020202020204" pitchFamily="34" charset="0"/>
              </a:rPr>
              <a:t> Kullanımı</a:t>
            </a:r>
            <a:r>
              <a:rPr lang="tr-TR" sz="1900" dirty="0">
                <a:latin typeface="Arial" panose="020B0604020202020204" pitchFamily="34" charset="0"/>
                <a:cs typeface="Arial" panose="020B0604020202020204" pitchFamily="34" charset="0"/>
              </a:rPr>
              <a:t>: Türkiye'de bazı gıda firmaları, tedarik zincirinde </a:t>
            </a:r>
            <a:r>
              <a:rPr lang="tr-TR" sz="1900" dirty="0" err="1">
                <a:latin typeface="Arial" panose="020B0604020202020204" pitchFamily="34" charset="0"/>
                <a:cs typeface="Arial" panose="020B0604020202020204" pitchFamily="34" charset="0"/>
              </a:rPr>
              <a:t>blockchain</a:t>
            </a:r>
            <a:r>
              <a:rPr lang="tr-TR" sz="1900" dirty="0">
                <a:latin typeface="Arial" panose="020B0604020202020204" pitchFamily="34" charset="0"/>
                <a:cs typeface="Arial" panose="020B0604020202020204" pitchFamily="34" charset="0"/>
              </a:rPr>
              <a:t> kullanmaya başladı.</a:t>
            </a:r>
          </a:p>
          <a:p>
            <a:endParaRPr lang="tr-TR" sz="1400" dirty="0"/>
          </a:p>
        </p:txBody>
      </p:sp>
    </p:spTree>
    <p:extLst>
      <p:ext uri="{BB962C8B-B14F-4D97-AF65-F5344CB8AC3E}">
        <p14:creationId xmlns:p14="http://schemas.microsoft.com/office/powerpoint/2010/main" val="1142460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Resim 4" descr="mobil telefon, yemek, yemek, gıda, taşınabilir haberleşme cihazı içeren bir resim&#10;&#10;Açıklama otomatik olarak oluşturuldu">
            <a:extLst>
              <a:ext uri="{FF2B5EF4-FFF2-40B4-BE49-F238E27FC236}">
                <a16:creationId xmlns:a16="http://schemas.microsoft.com/office/drawing/2014/main" id="{C9B98526-CDB2-DB30-DD6B-18A76E453754}"/>
              </a:ext>
            </a:extLst>
          </p:cNvPr>
          <p:cNvPicPr>
            <a:picLocks noChangeAspect="1"/>
          </p:cNvPicPr>
          <p:nvPr/>
        </p:nvPicPr>
        <p:blipFill>
          <a:blip r:embed="rId2">
            <a:extLst>
              <a:ext uri="{28A0092B-C50C-407E-A947-70E740481C1C}">
                <a14:useLocalDpi xmlns:a14="http://schemas.microsoft.com/office/drawing/2010/main" val="0"/>
              </a:ext>
            </a:extLst>
          </a:blip>
          <a:srcRect r="-2" b="13431"/>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3" name="İçerik Yer Tutucusu 2">
            <a:extLst>
              <a:ext uri="{FF2B5EF4-FFF2-40B4-BE49-F238E27FC236}">
                <a16:creationId xmlns:a16="http://schemas.microsoft.com/office/drawing/2014/main" id="{7B415642-65F8-093D-E6B7-B80F39C4D558}"/>
              </a:ext>
            </a:extLst>
          </p:cNvPr>
          <p:cNvSpPr>
            <a:spLocks noGrp="1"/>
          </p:cNvSpPr>
          <p:nvPr>
            <p:ph idx="1"/>
          </p:nvPr>
        </p:nvSpPr>
        <p:spPr>
          <a:xfrm>
            <a:off x="824411" y="1343160"/>
            <a:ext cx="3851122" cy="3880773"/>
          </a:xfrm>
        </p:spPr>
        <p:txBody>
          <a:bodyPr>
            <a:normAutofit/>
          </a:bodyPr>
          <a:lstStyle/>
          <a:p>
            <a:r>
              <a:rPr lang="tr-TR" sz="2000" b="1" dirty="0">
                <a:latin typeface="Arial" panose="020B0604020202020204" pitchFamily="34" charset="0"/>
                <a:cs typeface="Arial" panose="020B0604020202020204" pitchFamily="34" charset="0"/>
              </a:rPr>
              <a:t>E-Ticaret ve Gıda</a:t>
            </a:r>
            <a:r>
              <a:rPr lang="tr-TR" sz="2000" dirty="0">
                <a:latin typeface="Arial" panose="020B0604020202020204" pitchFamily="34" charset="0"/>
                <a:cs typeface="Arial" panose="020B0604020202020204" pitchFamily="34" charset="0"/>
              </a:rPr>
              <a:t>: Yemek  ve market siparişi uygulamaları, gıda sektöründe dijitalleşmenin öncüsü.   Pandemi ile birlikte hız kazanan bu trend, mobil uygulamalar ve online marketler aracılığıyla gıda sektöründe dijital dönüşümü hızlandırmıştır. </a:t>
            </a:r>
            <a:r>
              <a:rPr lang="tr-TR" sz="2000" dirty="0" err="1">
                <a:latin typeface="Arial" panose="020B0604020202020204" pitchFamily="34" charset="0"/>
                <a:cs typeface="Arial" panose="020B0604020202020204" pitchFamily="34" charset="0"/>
              </a:rPr>
              <a:t>Yemeksepeti</a:t>
            </a:r>
            <a:r>
              <a:rPr lang="tr-TR" sz="2000" dirty="0">
                <a:latin typeface="Arial" panose="020B0604020202020204" pitchFamily="34" charset="0"/>
                <a:cs typeface="Arial" panose="020B0604020202020204" pitchFamily="34" charset="0"/>
              </a:rPr>
              <a:t> ,Trendyol </a:t>
            </a:r>
            <a:r>
              <a:rPr lang="tr-TR" sz="2000" dirty="0" err="1">
                <a:latin typeface="Arial" panose="020B0604020202020204" pitchFamily="34" charset="0"/>
                <a:cs typeface="Arial" panose="020B0604020202020204" pitchFamily="34" charset="0"/>
              </a:rPr>
              <a:t>go</a:t>
            </a:r>
            <a:r>
              <a:rPr lang="tr-TR" sz="2000" dirty="0">
                <a:latin typeface="Arial" panose="020B0604020202020204" pitchFamily="34" charset="0"/>
                <a:cs typeface="Arial" panose="020B0604020202020204" pitchFamily="34" charset="0"/>
              </a:rPr>
              <a:t>,  Getir, Migros,</a:t>
            </a:r>
          </a:p>
          <a:p>
            <a:endParaRPr lang="tr-TR" dirty="0"/>
          </a:p>
        </p:txBody>
      </p:sp>
      <p:cxnSp>
        <p:nvCxnSpPr>
          <p:cNvPr id="10" name="Straight Connector 9">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6"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8"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2"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4"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6"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3301367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DDE9CD4-0E0A-4129-8689-A89C4E9A6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Kapsayıcılardaki en üstteki sıces görünümü">
            <a:extLst>
              <a:ext uri="{FF2B5EF4-FFF2-40B4-BE49-F238E27FC236}">
                <a16:creationId xmlns:a16="http://schemas.microsoft.com/office/drawing/2014/main" id="{6D301240-9C7A-5DD2-40A1-2C1016AA80A2}"/>
              </a:ext>
            </a:extLst>
          </p:cNvPr>
          <p:cNvPicPr>
            <a:picLocks noChangeAspect="1"/>
          </p:cNvPicPr>
          <p:nvPr/>
        </p:nvPicPr>
        <p:blipFill>
          <a:blip r:embed="rId2">
            <a:duotone>
              <a:schemeClr val="bg2">
                <a:shade val="45000"/>
                <a:satMod val="135000"/>
              </a:schemeClr>
              <a:prstClr val="white"/>
            </a:duotone>
            <a:alphaModFix amt="25000"/>
          </a:blip>
          <a:srcRect t="12726" b="22245"/>
          <a:stretch/>
        </p:blipFill>
        <p:spPr>
          <a:xfrm>
            <a:off x="1" y="10"/>
            <a:ext cx="12191999" cy="6857990"/>
          </a:xfrm>
          <a:prstGeom prst="rect">
            <a:avLst/>
          </a:prstGeom>
        </p:spPr>
      </p:pic>
      <p:grpSp>
        <p:nvGrpSpPr>
          <p:cNvPr id="11" name="Group 10">
            <a:extLst>
              <a:ext uri="{FF2B5EF4-FFF2-40B4-BE49-F238E27FC236}">
                <a16:creationId xmlns:a16="http://schemas.microsoft.com/office/drawing/2014/main" id="{85DB3CA2-FA66-42B9-90EF-394894352D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2C8D0718-07C6-45A2-A743-BC64673C96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AE7BCCE-817C-4933-A587-F1EF87D4B4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0E96C1E8-3E07-4AF1-BA61-7FB948F90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5" name="Rectangle 25">
              <a:extLst>
                <a:ext uri="{FF2B5EF4-FFF2-40B4-BE49-F238E27FC236}">
                  <a16:creationId xmlns:a16="http://schemas.microsoft.com/office/drawing/2014/main" id="{B3B592D1-4031-4144-A2DB-B2D8F8C73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6" name="Isosceles Triangle 15">
              <a:extLst>
                <a:ext uri="{FF2B5EF4-FFF2-40B4-BE49-F238E27FC236}">
                  <a16:creationId xmlns:a16="http://schemas.microsoft.com/office/drawing/2014/main" id="{55CB28D4-D6D1-4DB7-B557-D5FF65237B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7" name="Rectangle 27">
              <a:extLst>
                <a:ext uri="{FF2B5EF4-FFF2-40B4-BE49-F238E27FC236}">
                  <a16:creationId xmlns:a16="http://schemas.microsoft.com/office/drawing/2014/main" id="{F69D97D4-6031-4064-9BBA-2E96839A3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8" name="Rectangle 28">
              <a:extLst>
                <a:ext uri="{FF2B5EF4-FFF2-40B4-BE49-F238E27FC236}">
                  <a16:creationId xmlns:a16="http://schemas.microsoft.com/office/drawing/2014/main" id="{BAF978AE-97B1-4224-A562-EBCE373A1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9" name="Rectangle 29">
              <a:extLst>
                <a:ext uri="{FF2B5EF4-FFF2-40B4-BE49-F238E27FC236}">
                  <a16:creationId xmlns:a16="http://schemas.microsoft.com/office/drawing/2014/main" id="{3A18250B-41A2-4BA7-9E5C-679CF3AE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0" name="Isosceles Triangle 19">
              <a:extLst>
                <a:ext uri="{FF2B5EF4-FFF2-40B4-BE49-F238E27FC236}">
                  <a16:creationId xmlns:a16="http://schemas.microsoft.com/office/drawing/2014/main" id="{C8751ECC-5286-4332-9942-2D01B7135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1" name="Isosceles Triangle 20">
              <a:extLst>
                <a:ext uri="{FF2B5EF4-FFF2-40B4-BE49-F238E27FC236}">
                  <a16:creationId xmlns:a16="http://schemas.microsoft.com/office/drawing/2014/main" id="{5952A4A6-F619-458C-A026-6E5D6AF15D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grpSp>
      <p:sp>
        <p:nvSpPr>
          <p:cNvPr id="3" name="İçerik Yer Tutucusu 2">
            <a:extLst>
              <a:ext uri="{FF2B5EF4-FFF2-40B4-BE49-F238E27FC236}">
                <a16:creationId xmlns:a16="http://schemas.microsoft.com/office/drawing/2014/main" id="{79078D93-B06F-5F69-818B-26238D80AC71}"/>
              </a:ext>
            </a:extLst>
          </p:cNvPr>
          <p:cNvSpPr>
            <a:spLocks noGrp="1"/>
          </p:cNvSpPr>
          <p:nvPr>
            <p:ph idx="1"/>
          </p:nvPr>
        </p:nvSpPr>
        <p:spPr>
          <a:xfrm>
            <a:off x="603361" y="748349"/>
            <a:ext cx="8596668" cy="3880773"/>
          </a:xfrm>
        </p:spPr>
        <p:txBody>
          <a:bodyPr>
            <a:normAutofit fontScale="92500"/>
          </a:bodyPr>
          <a:lstStyle/>
          <a:p>
            <a:r>
              <a:rPr lang="tr-TR" sz="2600" b="1" dirty="0">
                <a:solidFill>
                  <a:srgbClr val="FF0000"/>
                </a:solidFill>
                <a:latin typeface="Calibri" panose="020F0502020204030204" pitchFamily="34" charset="0"/>
                <a:ea typeface="Calibri" panose="020F0502020204030204" pitchFamily="34" charset="0"/>
                <a:cs typeface="Calibri" panose="020F0502020204030204" pitchFamily="34" charset="0"/>
              </a:rPr>
              <a:t>Bilişim Teknolojilerinin Gıda Sektörüne Sağladığı Faydalar:</a:t>
            </a:r>
          </a:p>
          <a:p>
            <a:pPr>
              <a:buFont typeface="Arial" panose="020B0604020202020204" pitchFamily="34" charset="0"/>
              <a:buChar char="•"/>
            </a:pPr>
            <a:r>
              <a:rPr lang="tr-TR" sz="2000" b="1" dirty="0">
                <a:latin typeface="Arial" panose="020B0604020202020204" pitchFamily="34" charset="0"/>
                <a:cs typeface="Arial" panose="020B0604020202020204" pitchFamily="34" charset="0"/>
              </a:rPr>
              <a:t>Verimlilik Artışı: Otomasyon ve dijital çözümler sayesinde üretim süreçleri hızlanmakta ve verimlilik artmaktadır.</a:t>
            </a:r>
          </a:p>
          <a:p>
            <a:pPr>
              <a:buFont typeface="Arial" panose="020B0604020202020204" pitchFamily="34" charset="0"/>
              <a:buChar char="•"/>
            </a:pPr>
            <a:r>
              <a:rPr lang="tr-TR" sz="2000" b="1" dirty="0">
                <a:latin typeface="Arial" panose="020B0604020202020204" pitchFamily="34" charset="0"/>
                <a:cs typeface="Arial" panose="020B0604020202020204" pitchFamily="34" charset="0"/>
              </a:rPr>
              <a:t>Gıda Güvenliği: Teknolojik sistemlerle gıda ürünlerinin güvenliği artırılmakta, tedarik zincirindeki olası hatalar minimize edilmektedir.</a:t>
            </a:r>
          </a:p>
          <a:p>
            <a:pPr>
              <a:buFont typeface="Arial" panose="020B0604020202020204" pitchFamily="34" charset="0"/>
              <a:buChar char="•"/>
            </a:pPr>
            <a:r>
              <a:rPr lang="tr-TR" sz="2000" b="1" dirty="0">
                <a:latin typeface="Arial" panose="020B0604020202020204" pitchFamily="34" charset="0"/>
                <a:cs typeface="Arial" panose="020B0604020202020204" pitchFamily="34" charset="0"/>
              </a:rPr>
              <a:t>Sürdürülebilirlik: Akıllı tarım teknolojileri sayesinde su, enerji ve kaynaklar daha verimli kullanılmaktadır. Gıda atıklarının azaltılması da sürdürülebilirlik açısından büyük bir fayda sağlamaktadır.</a:t>
            </a:r>
          </a:p>
          <a:p>
            <a:pPr>
              <a:buFont typeface="Arial" panose="020B0604020202020204" pitchFamily="34" charset="0"/>
              <a:buChar char="•"/>
            </a:pPr>
            <a:r>
              <a:rPr lang="tr-TR" sz="2000" b="1" dirty="0">
                <a:latin typeface="Arial" panose="020B0604020202020204" pitchFamily="34" charset="0"/>
                <a:cs typeface="Arial" panose="020B0604020202020204" pitchFamily="34" charset="0"/>
              </a:rPr>
              <a:t>Müşteri Memnuniyeti ve İnovasyon: Yeni teknolojiler, müşterilerin taleplerini daha iyi analiz ederek, kişiselleştirilmiş gıda çözümleri sunmayı mümkün kılmaktadır.</a:t>
            </a:r>
          </a:p>
          <a:p>
            <a:endParaRPr lang="tr-TR" dirty="0"/>
          </a:p>
        </p:txBody>
      </p:sp>
    </p:spTree>
    <p:extLst>
      <p:ext uri="{BB962C8B-B14F-4D97-AF65-F5344CB8AC3E}">
        <p14:creationId xmlns:p14="http://schemas.microsoft.com/office/powerpoint/2010/main" val="1203436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4" descr="El ile sıralanmış tasırları ve içecekler gösterimi">
            <a:extLst>
              <a:ext uri="{FF2B5EF4-FFF2-40B4-BE49-F238E27FC236}">
                <a16:creationId xmlns:a16="http://schemas.microsoft.com/office/drawing/2014/main" id="{F94E447B-521A-0730-FC5D-7E1C28AD3FB2}"/>
              </a:ext>
            </a:extLst>
          </p:cNvPr>
          <p:cNvPicPr>
            <a:picLocks noChangeAspect="1"/>
          </p:cNvPicPr>
          <p:nvPr/>
        </p:nvPicPr>
        <p:blipFill>
          <a:blip r:embed="rId2">
            <a:duotone>
              <a:prstClr val="black"/>
              <a:schemeClr val="tx2">
                <a:tint val="45000"/>
                <a:satMod val="400000"/>
              </a:schemeClr>
            </a:duotone>
          </a:blip>
          <a:srcRect l="29249" r="37551" b="2"/>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6" name="Isosceles Triangle 8">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28D65D55-70FA-87F0-E561-C1889452E0F8}"/>
              </a:ext>
            </a:extLst>
          </p:cNvPr>
          <p:cNvSpPr>
            <a:spLocks noGrp="1"/>
          </p:cNvSpPr>
          <p:nvPr>
            <p:ph idx="1"/>
          </p:nvPr>
        </p:nvSpPr>
        <p:spPr>
          <a:xfrm>
            <a:off x="2582847" y="585789"/>
            <a:ext cx="7009886" cy="4765144"/>
          </a:xfrm>
        </p:spPr>
        <p:txBody>
          <a:bodyPr>
            <a:normAutofit lnSpcReduction="10000"/>
          </a:bodyPr>
          <a:lstStyle/>
          <a:p>
            <a:pPr>
              <a:lnSpc>
                <a:spcPct val="90000"/>
              </a:lnSpc>
            </a:pPr>
            <a:r>
              <a:rPr lang="tr-TR" sz="2800" b="1" dirty="0">
                <a:latin typeface="Calibri" panose="020F0502020204030204" pitchFamily="34" charset="0"/>
                <a:ea typeface="Calibri" panose="020F0502020204030204" pitchFamily="34" charset="0"/>
                <a:cs typeface="Calibri" panose="020F0502020204030204" pitchFamily="34" charset="0"/>
              </a:rPr>
              <a:t>Gıda Sektöründe Gelecekte Bilişim Teknolojileri </a:t>
            </a:r>
          </a:p>
          <a:p>
            <a:pPr marL="0" indent="0">
              <a:lnSpc>
                <a:spcPct val="90000"/>
              </a:lnSpc>
              <a:buNone/>
            </a:pPr>
            <a:endParaRPr lang="tr-TR" sz="2000" dirty="0"/>
          </a:p>
          <a:p>
            <a:pPr>
              <a:lnSpc>
                <a:spcPct val="90000"/>
              </a:lnSpc>
              <a:buFont typeface="Arial" panose="020B0604020202020204" pitchFamily="34" charset="0"/>
              <a:buChar char="•"/>
            </a:pPr>
            <a:r>
              <a:rPr lang="tr-TR" sz="2000" b="1" dirty="0">
                <a:latin typeface="Arial" panose="020B0604020202020204" pitchFamily="34" charset="0"/>
                <a:ea typeface="Calibri" panose="020F0502020204030204" pitchFamily="34" charset="0"/>
                <a:cs typeface="Arial" panose="020B0604020202020204" pitchFamily="34" charset="0"/>
              </a:rPr>
              <a:t>Yapay Zeka ve Robotlar</a:t>
            </a:r>
            <a:r>
              <a:rPr lang="tr-TR" sz="2000" dirty="0">
                <a:latin typeface="Arial" panose="020B0604020202020204" pitchFamily="34" charset="0"/>
                <a:ea typeface="Calibri" panose="020F0502020204030204" pitchFamily="34" charset="0"/>
                <a:cs typeface="Arial" panose="020B0604020202020204" pitchFamily="34" charset="0"/>
              </a:rPr>
              <a:t>: Gıda üretiminde robotların kullanımı daha da yaygınlaşacak. Yapay zeka ile otomatik tedarik zinciri yönetimi sağlanacak.</a:t>
            </a:r>
          </a:p>
          <a:p>
            <a:pPr>
              <a:lnSpc>
                <a:spcPct val="90000"/>
              </a:lnSpc>
              <a:buFont typeface="Arial" panose="020B0604020202020204" pitchFamily="34" charset="0"/>
              <a:buChar char="•"/>
            </a:pPr>
            <a:r>
              <a:rPr lang="tr-TR" sz="2000" b="1" dirty="0" err="1">
                <a:latin typeface="Arial" panose="020B0604020202020204" pitchFamily="34" charset="0"/>
                <a:ea typeface="Calibri" panose="020F0502020204030204" pitchFamily="34" charset="0"/>
                <a:cs typeface="Arial" panose="020B0604020202020204" pitchFamily="34" charset="0"/>
              </a:rPr>
              <a:t>Blockchain</a:t>
            </a:r>
            <a:r>
              <a:rPr lang="tr-TR" sz="2000" b="1" dirty="0">
                <a:latin typeface="Arial" panose="020B0604020202020204" pitchFamily="34" charset="0"/>
                <a:ea typeface="Calibri" panose="020F0502020204030204" pitchFamily="34" charset="0"/>
                <a:cs typeface="Arial" panose="020B0604020202020204" pitchFamily="34" charset="0"/>
              </a:rPr>
              <a:t> ve Şeffaflık</a:t>
            </a:r>
            <a:r>
              <a:rPr lang="tr-TR" sz="2000" dirty="0">
                <a:latin typeface="Arial" panose="020B0604020202020204" pitchFamily="34" charset="0"/>
                <a:ea typeface="Calibri" panose="020F0502020204030204" pitchFamily="34" charset="0"/>
                <a:cs typeface="Arial" panose="020B0604020202020204" pitchFamily="34" charset="0"/>
              </a:rPr>
              <a:t>: </a:t>
            </a:r>
            <a:r>
              <a:rPr lang="tr-TR" sz="2000" dirty="0" err="1">
                <a:latin typeface="Arial" panose="020B0604020202020204" pitchFamily="34" charset="0"/>
                <a:ea typeface="Calibri" panose="020F0502020204030204" pitchFamily="34" charset="0"/>
                <a:cs typeface="Arial" panose="020B0604020202020204" pitchFamily="34" charset="0"/>
              </a:rPr>
              <a:t>Blockchain</a:t>
            </a:r>
            <a:r>
              <a:rPr lang="tr-TR" sz="2000" dirty="0">
                <a:latin typeface="Arial" panose="020B0604020202020204" pitchFamily="34" charset="0"/>
                <a:ea typeface="Calibri" panose="020F0502020204030204" pitchFamily="34" charset="0"/>
                <a:cs typeface="Arial" panose="020B0604020202020204" pitchFamily="34" charset="0"/>
              </a:rPr>
              <a:t>, gıda sektöründe tedarik zincirindeki her adımın şeffaf bir şekilde izlenebilmesini sağlayacak.</a:t>
            </a:r>
          </a:p>
          <a:p>
            <a:pPr>
              <a:lnSpc>
                <a:spcPct val="90000"/>
              </a:lnSpc>
              <a:buFont typeface="Arial" panose="020B0604020202020204" pitchFamily="34" charset="0"/>
              <a:buChar char="•"/>
            </a:pPr>
            <a:r>
              <a:rPr lang="tr-TR" sz="2000" b="1" dirty="0">
                <a:latin typeface="Arial" panose="020B0604020202020204" pitchFamily="34" charset="0"/>
                <a:ea typeface="Calibri" panose="020F0502020204030204" pitchFamily="34" charset="0"/>
                <a:cs typeface="Arial" panose="020B0604020202020204" pitchFamily="34" charset="0"/>
              </a:rPr>
              <a:t>Gıda Teknolojilerinde İleri Düzey </a:t>
            </a:r>
            <a:r>
              <a:rPr lang="tr-TR" sz="2000" b="1" dirty="0" err="1">
                <a:latin typeface="Arial" panose="020B0604020202020204" pitchFamily="34" charset="0"/>
                <a:ea typeface="Calibri" panose="020F0502020204030204" pitchFamily="34" charset="0"/>
                <a:cs typeface="Arial" panose="020B0604020202020204" pitchFamily="34" charset="0"/>
              </a:rPr>
              <a:t>İnnovasyonlar</a:t>
            </a:r>
            <a:r>
              <a:rPr lang="tr-TR" sz="2000" dirty="0">
                <a:latin typeface="Arial" panose="020B0604020202020204" pitchFamily="34" charset="0"/>
                <a:ea typeface="Calibri" panose="020F0502020204030204" pitchFamily="34" charset="0"/>
                <a:cs typeface="Arial" panose="020B0604020202020204" pitchFamily="34" charset="0"/>
              </a:rPr>
              <a:t>: 3D yazıcılarla gıda üretimi, genetik mühendislik ve laboratuvar ortamında gıda üretimi.</a:t>
            </a:r>
          </a:p>
          <a:p>
            <a:pPr>
              <a:lnSpc>
                <a:spcPct val="90000"/>
              </a:lnSpc>
              <a:buFont typeface="Arial" panose="020B0604020202020204" pitchFamily="34" charset="0"/>
              <a:buChar char="•"/>
            </a:pPr>
            <a:r>
              <a:rPr lang="tr-TR" sz="2000" b="1" dirty="0">
                <a:latin typeface="Arial" panose="020B0604020202020204" pitchFamily="34" charset="0"/>
                <a:ea typeface="Calibri" panose="020F0502020204030204" pitchFamily="34" charset="0"/>
                <a:cs typeface="Arial" panose="020B0604020202020204" pitchFamily="34" charset="0"/>
              </a:rPr>
              <a:t>Sıfır Atık ve Gıda İsrafı</a:t>
            </a:r>
            <a:r>
              <a:rPr lang="tr-TR" sz="2000" dirty="0">
                <a:latin typeface="Arial" panose="020B0604020202020204" pitchFamily="34" charset="0"/>
                <a:ea typeface="Calibri" panose="020F0502020204030204" pitchFamily="34" charset="0"/>
                <a:cs typeface="Arial" panose="020B0604020202020204" pitchFamily="34" charset="0"/>
              </a:rPr>
              <a:t>: Teknoloji ile gıda atıklarını azaltan çözümler, verimlilik artırıcı yöntemler.</a:t>
            </a:r>
          </a:p>
          <a:p>
            <a:pPr>
              <a:lnSpc>
                <a:spcPct val="90000"/>
              </a:lnSpc>
            </a:pPr>
            <a:endParaRPr lang="tr-TR" sz="1700" dirty="0"/>
          </a:p>
        </p:txBody>
      </p:sp>
    </p:spTree>
    <p:extLst>
      <p:ext uri="{BB962C8B-B14F-4D97-AF65-F5344CB8AC3E}">
        <p14:creationId xmlns:p14="http://schemas.microsoft.com/office/powerpoint/2010/main" val="2074109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graphicFrame>
        <p:nvGraphicFramePr>
          <p:cNvPr id="7" name="İçerik Yer Tutucusu 2">
            <a:extLst>
              <a:ext uri="{FF2B5EF4-FFF2-40B4-BE49-F238E27FC236}">
                <a16:creationId xmlns:a16="http://schemas.microsoft.com/office/drawing/2014/main" id="{C92048EA-710B-1C87-22F3-9EEFA189349A}"/>
              </a:ext>
            </a:extLst>
          </p:cNvPr>
          <p:cNvGraphicFramePr>
            <a:graphicFrameLocks noGrp="1"/>
          </p:cNvGraphicFramePr>
          <p:nvPr>
            <p:ph idx="1"/>
            <p:extLst>
              <p:ext uri="{D42A27DB-BD31-4B8C-83A1-F6EECF244321}">
                <p14:modId xmlns:p14="http://schemas.microsoft.com/office/powerpoint/2010/main" val="3327076423"/>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495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İçerik Yer Tutucusu 2">
            <a:extLst>
              <a:ext uri="{FF2B5EF4-FFF2-40B4-BE49-F238E27FC236}">
                <a16:creationId xmlns:a16="http://schemas.microsoft.com/office/drawing/2014/main" id="{5CE023C5-A27B-ADCC-5542-F2B32A4CACA7}"/>
              </a:ext>
            </a:extLst>
          </p:cNvPr>
          <p:cNvSpPr>
            <a:spLocks noGrp="1"/>
          </p:cNvSpPr>
          <p:nvPr>
            <p:ph idx="1"/>
          </p:nvPr>
        </p:nvSpPr>
        <p:spPr>
          <a:xfrm>
            <a:off x="692397" y="1164910"/>
            <a:ext cx="3973943" cy="4097970"/>
          </a:xfrm>
        </p:spPr>
        <p:txBody>
          <a:bodyPr>
            <a:normAutofit/>
          </a:bodyPr>
          <a:lstStyle/>
          <a:p>
            <a:r>
              <a:rPr lang="tr-TR" sz="2000" b="1" dirty="0">
                <a:solidFill>
                  <a:schemeClr val="bg1"/>
                </a:solidFill>
                <a:latin typeface="Calibri" panose="020F0502020204030204" pitchFamily="34" charset="0"/>
                <a:ea typeface="Calibri" panose="020F0502020204030204" pitchFamily="34" charset="0"/>
                <a:cs typeface="Calibri" panose="020F0502020204030204" pitchFamily="34" charset="0"/>
              </a:rPr>
              <a:t>Sonuç ve Değerlendirme:</a:t>
            </a:r>
            <a:endParaRPr lang="tr-TR"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tr-TR" sz="2000" dirty="0">
                <a:solidFill>
                  <a:schemeClr val="bg1"/>
                </a:solidFill>
                <a:latin typeface="Arial" panose="020B0604020202020204" pitchFamily="34" charset="0"/>
                <a:cs typeface="Arial" panose="020B0604020202020204" pitchFamily="34" charset="0"/>
              </a:rPr>
              <a:t>Gıda sektörü, bilişim teknolojileriyle daha verimli, güvenli ve sürdürülebilir bir hale gelmektedir. Hem dünyada hem de Türkiye’de bu teknolojilerin kullanımı arttıkça, sektörün geleceği daha dijital ve teknolojik olacak.</a:t>
            </a:r>
          </a:p>
          <a:p>
            <a:endParaRPr lang="tr-TR" dirty="0">
              <a:solidFill>
                <a:schemeClr val="bg1"/>
              </a:solidFill>
            </a:endParaRPr>
          </a:p>
        </p:txBody>
      </p:sp>
      <p:pic>
        <p:nvPicPr>
          <p:cNvPr id="7" name="Graphic 6" descr="Onay işareti">
            <a:extLst>
              <a:ext uri="{FF2B5EF4-FFF2-40B4-BE49-F238E27FC236}">
                <a16:creationId xmlns:a16="http://schemas.microsoft.com/office/drawing/2014/main" id="{BE4C7F62-D337-A12B-D09B-D21D43E14A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17616" y="972608"/>
            <a:ext cx="4900269" cy="4900269"/>
          </a:xfrm>
          <a:prstGeom prst="rect">
            <a:avLst/>
          </a:prstGeom>
        </p:spPr>
      </p:pic>
      <p:sp>
        <p:nvSpPr>
          <p:cNvPr id="16" name="Isosceles Triangle 1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183811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1DACE5A-9D20-C2C5-D123-36937F1DFAD6}"/>
              </a:ext>
            </a:extLst>
          </p:cNvPr>
          <p:cNvSpPr>
            <a:spLocks noGrp="1"/>
          </p:cNvSpPr>
          <p:nvPr>
            <p:ph type="title"/>
          </p:nvPr>
        </p:nvSpPr>
        <p:spPr/>
        <p:txBody>
          <a:bodyPr/>
          <a:lstStyle/>
          <a:p>
            <a:r>
              <a:rPr lang="tr-TR" dirty="0" err="1">
                <a:latin typeface="Arial" panose="020B0604020202020204" pitchFamily="34" charset="0"/>
                <a:cs typeface="Arial" panose="020B0604020202020204" pitchFamily="34" charset="0"/>
              </a:rPr>
              <a:t>Kaynakca</a:t>
            </a:r>
            <a:endParaRPr lang="tr-TR"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2C6F850C-0657-F237-25A1-75372568CAC8}"/>
              </a:ext>
            </a:extLst>
          </p:cNvPr>
          <p:cNvSpPr>
            <a:spLocks noGrp="1"/>
          </p:cNvSpPr>
          <p:nvPr>
            <p:ph idx="1"/>
          </p:nvPr>
        </p:nvSpPr>
        <p:spPr>
          <a:xfrm>
            <a:off x="550334" y="1488613"/>
            <a:ext cx="8596668" cy="3880773"/>
          </a:xfrm>
        </p:spPr>
        <p:txBody>
          <a:bodyPr/>
          <a:lstStyle/>
          <a:p>
            <a:r>
              <a:rPr lang="tr-TR" sz="3200" dirty="0" err="1">
                <a:latin typeface="Calibri" panose="020F0502020204030204" pitchFamily="34" charset="0"/>
                <a:ea typeface="Calibri" panose="020F0502020204030204" pitchFamily="34" charset="0"/>
                <a:cs typeface="Calibri" panose="020F0502020204030204" pitchFamily="34" charset="0"/>
              </a:rPr>
              <a:t>Statsita</a:t>
            </a:r>
            <a:endParaRPr lang="tr-TR" sz="3200" dirty="0">
              <a:latin typeface="Calibri" panose="020F0502020204030204" pitchFamily="34" charset="0"/>
              <a:ea typeface="Calibri" panose="020F0502020204030204" pitchFamily="34" charset="0"/>
              <a:cs typeface="Calibri" panose="020F0502020204030204" pitchFamily="34" charset="0"/>
            </a:endParaRPr>
          </a:p>
          <a:p>
            <a:r>
              <a:rPr lang="tr-TR" sz="3200" dirty="0" err="1">
                <a:latin typeface="Calibri" panose="020F0502020204030204" pitchFamily="34" charset="0"/>
                <a:ea typeface="Calibri" panose="020F0502020204030204" pitchFamily="34" charset="0"/>
                <a:cs typeface="Calibri" panose="020F0502020204030204" pitchFamily="34" charset="0"/>
              </a:rPr>
              <a:t>Canva</a:t>
            </a:r>
            <a:endParaRPr lang="tr-TR" sz="3200" dirty="0">
              <a:latin typeface="Calibri" panose="020F0502020204030204" pitchFamily="34" charset="0"/>
              <a:ea typeface="Calibri" panose="020F0502020204030204" pitchFamily="34" charset="0"/>
              <a:cs typeface="Calibri" panose="020F0502020204030204" pitchFamily="34" charset="0"/>
            </a:endParaRPr>
          </a:p>
          <a:p>
            <a:r>
              <a:rPr lang="tr-TR" sz="3200" dirty="0">
                <a:latin typeface="Calibri" panose="020F0502020204030204" pitchFamily="34" charset="0"/>
                <a:ea typeface="Calibri" panose="020F0502020204030204" pitchFamily="34" charset="0"/>
                <a:cs typeface="Calibri" panose="020F0502020204030204" pitchFamily="34" charset="0"/>
              </a:rPr>
              <a:t>Chat </a:t>
            </a:r>
            <a:r>
              <a:rPr lang="tr-TR" sz="3200" dirty="0" err="1">
                <a:latin typeface="Calibri" panose="020F0502020204030204" pitchFamily="34" charset="0"/>
                <a:ea typeface="Calibri" panose="020F0502020204030204" pitchFamily="34" charset="0"/>
                <a:cs typeface="Calibri" panose="020F0502020204030204" pitchFamily="34" charset="0"/>
              </a:rPr>
              <a:t>gpt</a:t>
            </a:r>
            <a:endParaRPr lang="tr-TR" sz="3200" dirty="0">
              <a:latin typeface="Calibri" panose="020F0502020204030204" pitchFamily="34" charset="0"/>
              <a:ea typeface="Calibri" panose="020F0502020204030204" pitchFamily="34" charset="0"/>
              <a:cs typeface="Calibri" panose="020F0502020204030204" pitchFamily="34" charset="0"/>
            </a:endParaRPr>
          </a:p>
          <a:p>
            <a:endParaRPr lang="tr-TR" dirty="0"/>
          </a:p>
        </p:txBody>
      </p:sp>
    </p:spTree>
    <p:extLst>
      <p:ext uri="{BB962C8B-B14F-4D97-AF65-F5344CB8AC3E}">
        <p14:creationId xmlns:p14="http://schemas.microsoft.com/office/powerpoint/2010/main" val="927021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B63CED-EB59-276D-69D5-BFB0E9F98816}"/>
              </a:ext>
            </a:extLst>
          </p:cNvPr>
          <p:cNvSpPr>
            <a:spLocks noGrp="1"/>
          </p:cNvSpPr>
          <p:nvPr>
            <p:ph type="title"/>
          </p:nvPr>
        </p:nvSpPr>
        <p:spPr>
          <a:xfrm>
            <a:off x="677334" y="609600"/>
            <a:ext cx="8596668" cy="717755"/>
          </a:xfrm>
        </p:spPr>
        <p:txBody>
          <a:bodyPr/>
          <a:lstStyle/>
          <a:p>
            <a:r>
              <a:rPr lang="tr-TR" dirty="0"/>
              <a:t>Test Soruları</a:t>
            </a:r>
          </a:p>
        </p:txBody>
      </p:sp>
      <p:sp>
        <p:nvSpPr>
          <p:cNvPr id="3" name="İçerik Yer Tutucusu 2">
            <a:extLst>
              <a:ext uri="{FF2B5EF4-FFF2-40B4-BE49-F238E27FC236}">
                <a16:creationId xmlns:a16="http://schemas.microsoft.com/office/drawing/2014/main" id="{9E6D889F-2031-53F1-8E0E-DDAE25107FE4}"/>
              </a:ext>
            </a:extLst>
          </p:cNvPr>
          <p:cNvSpPr>
            <a:spLocks noGrp="1"/>
          </p:cNvSpPr>
          <p:nvPr>
            <p:ph idx="1"/>
          </p:nvPr>
        </p:nvSpPr>
        <p:spPr>
          <a:xfrm>
            <a:off x="451192" y="2035277"/>
            <a:ext cx="8596668" cy="5201264"/>
          </a:xfrm>
        </p:spPr>
        <p:txBody>
          <a:bodyPr>
            <a:normAutofit/>
          </a:bodyPr>
          <a:lstStyle/>
          <a:p>
            <a:pPr marL="0" indent="0">
              <a:buNone/>
            </a:pPr>
            <a:r>
              <a:rPr lang="tr-TR" sz="2400" b="1" dirty="0"/>
              <a:t>1.Aşağıdakilerden hangisi gıda sektöründe </a:t>
            </a:r>
            <a:r>
              <a:rPr lang="tr-TR" sz="2400" b="1" dirty="0" err="1"/>
              <a:t>blockchain</a:t>
            </a:r>
            <a:r>
              <a:rPr lang="tr-TR" sz="2400" b="1" dirty="0"/>
              <a:t> teknolojisinin kullanım alanlarından biri değildir?</a:t>
            </a:r>
          </a:p>
          <a:p>
            <a:pPr marL="0" indent="0">
              <a:buNone/>
            </a:pPr>
            <a:r>
              <a:rPr lang="tr-TR" sz="2400" dirty="0"/>
              <a:t>     A) Ürünlerin sıcaklık ve nem gibi verilerinin anlık takibi</a:t>
            </a:r>
          </a:p>
          <a:p>
            <a:pPr marL="0" indent="0">
              <a:buNone/>
            </a:pPr>
            <a:r>
              <a:rPr lang="tr-TR" sz="2400" dirty="0"/>
              <a:t>     B) Gıda tedarik zincirinde şeffaflığın sağlanması</a:t>
            </a:r>
          </a:p>
          <a:p>
            <a:pPr marL="0" indent="0">
              <a:buNone/>
            </a:pPr>
            <a:r>
              <a:rPr lang="tr-TR" sz="2400" dirty="0"/>
              <a:t>     C) Gıda güvenilebilirliği ve izlenebilirliğin artırılması</a:t>
            </a:r>
          </a:p>
          <a:p>
            <a:pPr marL="0" indent="0">
              <a:buNone/>
            </a:pPr>
            <a:r>
              <a:rPr lang="tr-TR" sz="2400" dirty="0"/>
              <a:t>     </a:t>
            </a:r>
            <a:r>
              <a:rPr lang="tr-TR" sz="2400" b="1" dirty="0"/>
              <a:t>D) Otomatik sipariş ve yemek hazırlama sistemleri</a:t>
            </a:r>
          </a:p>
        </p:txBody>
      </p:sp>
    </p:spTree>
    <p:extLst>
      <p:ext uri="{BB962C8B-B14F-4D97-AF65-F5344CB8AC3E}">
        <p14:creationId xmlns:p14="http://schemas.microsoft.com/office/powerpoint/2010/main" val="4101585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98D4A1E-5AE2-3A37-2F00-FF13E0E21532}"/>
              </a:ext>
            </a:extLst>
          </p:cNvPr>
          <p:cNvSpPr>
            <a:spLocks noGrp="1"/>
          </p:cNvSpPr>
          <p:nvPr>
            <p:ph idx="1"/>
          </p:nvPr>
        </p:nvSpPr>
        <p:spPr>
          <a:xfrm>
            <a:off x="716663" y="902061"/>
            <a:ext cx="8596668" cy="4751487"/>
          </a:xfrm>
        </p:spPr>
        <p:txBody>
          <a:bodyPr>
            <a:normAutofit/>
          </a:bodyPr>
          <a:lstStyle/>
          <a:p>
            <a:pPr marL="0" indent="0">
              <a:buNone/>
            </a:pPr>
            <a:r>
              <a:rPr lang="tr-TR" sz="2400" b="1" dirty="0"/>
              <a:t>2. Türkiye'de gıda sektöründe bilişim teknolojilerinin kullanımıyla ilgili aşağıdaki ifadelerden hangisi yanlıştır?</a:t>
            </a:r>
          </a:p>
          <a:p>
            <a:pPr marL="0" indent="0">
              <a:buNone/>
            </a:pPr>
            <a:r>
              <a:rPr lang="tr-TR" sz="2400" b="1" dirty="0"/>
              <a:t>    </a:t>
            </a:r>
            <a:r>
              <a:rPr lang="tr-TR" sz="2400" dirty="0"/>
              <a:t>A)Türk çiftçiler, </a:t>
            </a:r>
            <a:r>
              <a:rPr lang="tr-TR" sz="2400" dirty="0" err="1"/>
              <a:t>loT</a:t>
            </a:r>
            <a:r>
              <a:rPr lang="tr-TR" sz="2400" dirty="0"/>
              <a:t> cihazlarını kullanarak ürünlerinin durumunu izleyebiliyor.</a:t>
            </a:r>
          </a:p>
          <a:p>
            <a:pPr marL="0" indent="0">
              <a:buNone/>
            </a:pPr>
            <a:r>
              <a:rPr lang="tr-TR" sz="2400" b="1" dirty="0"/>
              <a:t>    </a:t>
            </a:r>
            <a:r>
              <a:rPr lang="tr-TR" sz="2400" dirty="0"/>
              <a:t>B)Migros ve </a:t>
            </a:r>
            <a:r>
              <a:rPr lang="tr-TR" sz="2400" dirty="0" err="1"/>
              <a:t>CarrfourSA</a:t>
            </a:r>
            <a:r>
              <a:rPr lang="tr-TR" sz="2400" dirty="0"/>
              <a:t> gibi büyük market zincirleri, online satış platformları ve   mobil uygulamalar ile müşteri deneyimini dijitalleştiriyor.</a:t>
            </a:r>
          </a:p>
          <a:p>
            <a:pPr marL="0" indent="0">
              <a:buNone/>
            </a:pPr>
            <a:r>
              <a:rPr lang="tr-TR" sz="2400" b="1" dirty="0"/>
              <a:t>    C)Türkiye’de henüz hiçbir gıda firması, tedarik zincirinde </a:t>
            </a:r>
            <a:r>
              <a:rPr lang="tr-TR" sz="2400" b="1" dirty="0" err="1"/>
              <a:t>blockchain</a:t>
            </a:r>
            <a:r>
              <a:rPr lang="tr-TR" sz="2400" b="1" dirty="0"/>
              <a:t> teknolojisini kullanmıyor.</a:t>
            </a:r>
          </a:p>
          <a:p>
            <a:pPr marL="0" indent="0">
              <a:buNone/>
            </a:pPr>
            <a:r>
              <a:rPr lang="tr-TR" sz="2400" dirty="0"/>
              <a:t>    D)Yemek ve market sipariş uygulamaları, gıda sektöründe dijitalleşmenin öncüsü konumunda.</a:t>
            </a:r>
          </a:p>
        </p:txBody>
      </p:sp>
    </p:spTree>
    <p:extLst>
      <p:ext uri="{BB962C8B-B14F-4D97-AF65-F5344CB8AC3E}">
        <p14:creationId xmlns:p14="http://schemas.microsoft.com/office/powerpoint/2010/main" val="3352994560"/>
      </p:ext>
    </p:extLst>
  </p:cSld>
  <p:clrMapOvr>
    <a:masterClrMapping/>
  </p:clrMapOvr>
</p:sld>
</file>

<file path=ppt/theme/theme1.xml><?xml version="1.0" encoding="utf-8"?>
<a:theme xmlns:a="http://schemas.openxmlformats.org/drawingml/2006/main" name="Yüzeyler">
  <a:themeElements>
    <a:clrScheme name="Yüzeyler">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Yüzeyler">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Yüzeyler">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6AC541087E10B343A22B7911E3175954" ma:contentTypeVersion="5" ma:contentTypeDescription="Yeni belge oluşturun." ma:contentTypeScope="" ma:versionID="790bc168363959920500595b19c26fa2">
  <xsd:schema xmlns:xsd="http://www.w3.org/2001/XMLSchema" xmlns:xs="http://www.w3.org/2001/XMLSchema" xmlns:p="http://schemas.microsoft.com/office/2006/metadata/properties" xmlns:ns3="87cc7cb5-405f-44a5-8175-1f435387afa1" targetNamespace="http://schemas.microsoft.com/office/2006/metadata/properties" ma:root="true" ma:fieldsID="c920cf920f82d5db77a15edcfb3891d3" ns3:_="">
    <xsd:import namespace="87cc7cb5-405f-44a5-8175-1f435387afa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cc7cb5-405f-44a5-8175-1f435387afa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E3B86B5-F670-4457-973B-4958EA59E7C9}">
  <ds:schemaRefs>
    <ds:schemaRef ds:uri="http://schemas.microsoft.com/office/2006/metadata/contentType"/>
    <ds:schemaRef ds:uri="http://schemas.microsoft.com/office/2006/metadata/properties/metaAttributes"/>
    <ds:schemaRef ds:uri="http://www.w3.org/2000/xmlns/"/>
    <ds:schemaRef ds:uri="http://www.w3.org/2001/XMLSchema"/>
    <ds:schemaRef ds:uri="87cc7cb5-405f-44a5-8175-1f435387afa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585D242-77F8-4ED2-9FD4-7A9C64E5C99B}">
  <ds:schemaRefs>
    <ds:schemaRef ds:uri="http://schemas.microsoft.com/sharepoint/v3/contenttype/forms"/>
  </ds:schemaRefs>
</ds:datastoreItem>
</file>

<file path=customXml/itemProps3.xml><?xml version="1.0" encoding="utf-8"?>
<ds:datastoreItem xmlns:ds="http://schemas.openxmlformats.org/officeDocument/2006/customXml" ds:itemID="{5C26355B-5D29-46B0-B8F3-F3D566C57271}">
  <ds:schemaRefs>
    <ds:schemaRef ds:uri="87cc7cb5-405f-44a5-8175-1f435387afa1"/>
    <ds:schemaRef ds:uri="http://schemas.microsoft.com/office/2006/documentManagement/types"/>
    <ds:schemaRef ds:uri="http://purl.org/dc/elements/1.1/"/>
    <ds:schemaRef ds:uri="http://www.w3.org/XML/1998/namespace"/>
    <ds:schemaRef ds:uri="http://schemas.microsoft.com/office/infopath/2007/PartnerControls"/>
    <ds:schemaRef ds:uri="http://purl.org/dc/terms/"/>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Model</Template>
  <TotalTime>399</TotalTime>
  <Words>1054</Words>
  <Application>Microsoft Office PowerPoint</Application>
  <PresentationFormat>Geniş ekran</PresentationFormat>
  <Paragraphs>80</Paragraphs>
  <Slides>20</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20</vt:i4>
      </vt:variant>
    </vt:vector>
  </HeadingPairs>
  <TitlesOfParts>
    <vt:vector size="26" baseType="lpstr">
      <vt:lpstr>Arial</vt:lpstr>
      <vt:lpstr>Calibri</vt:lpstr>
      <vt:lpstr>Times New Roman</vt:lpstr>
      <vt:lpstr>Trebuchet MS</vt:lpstr>
      <vt:lpstr>Wingdings 3</vt:lpstr>
      <vt:lpstr>Yüzeyler</vt:lpstr>
      <vt:lpstr>Dünyada ve Türkiye de Gıda Sektöründe bilişim teknolojileri </vt:lpstr>
      <vt:lpstr>PowerPoint Sunusu</vt:lpstr>
      <vt:lpstr>PowerPoint Sunusu</vt:lpstr>
      <vt:lpstr>Gıda Sektöründe Bilişim Teknolojilerinin Yeri </vt:lpstr>
      <vt:lpstr>IoT (Nesnelerin İnterneti):</vt:lpstr>
      <vt:lpstr>PowerPoint Sunusu</vt:lpstr>
      <vt:lpstr>PowerPoint Sunusu</vt:lpstr>
      <vt:lpstr>PowerPoint Sunusu</vt:lpstr>
      <vt:lpstr>PowerPoint Sunusu</vt:lpstr>
      <vt:lpstr>PowerPoint Sunusu</vt:lpstr>
      <vt:lpstr>PowerPoint Sunusu</vt:lpstr>
      <vt:lpstr>Türkiye’de Gıda Sektöründe Bilişim Teknolojileri  </vt:lpstr>
      <vt:lpstr>PowerPoint Sunusu</vt:lpstr>
      <vt:lpstr>PowerPoint Sunusu</vt:lpstr>
      <vt:lpstr>PowerPoint Sunusu</vt:lpstr>
      <vt:lpstr>PowerPoint Sunusu</vt:lpstr>
      <vt:lpstr>PowerPoint Sunusu</vt:lpstr>
      <vt:lpstr>Kaynakca</vt:lpstr>
      <vt:lpstr>Test Soruları</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Dünyada ve Türkiye de Gıda Sektöründe bilişim teknolojileri</dc:title>
  <dc:creator>İsmail Alpak</dc:creator>
  <cp:lastModifiedBy>Deniz Özgören</cp:lastModifiedBy>
  <cp:revision>4</cp:revision>
  <dcterms:created xsi:type="dcterms:W3CDTF">2024-11-26T15:25:08Z</dcterms:created>
  <dcterms:modified xsi:type="dcterms:W3CDTF">2024-11-29T06:54:30Z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0x0101006AC541087E10B343A22B7911E3175954</vt:lpwstr>
  </property>
</Properties>
</file>